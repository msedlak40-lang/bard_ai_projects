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2" r:id="rId9"/>
    <p:sldId id="264" r:id="rId10"/>
    <p:sldId id="268" r:id="rId11"/>
    <p:sldId id="270" r:id="rId12"/>
    <p:sldId id="271" r:id="rId13"/>
    <p:sldId id="273" r:id="rId14"/>
    <p:sldId id="272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Arial Italics" panose="020B060402020202020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20B0604020202020204" charset="0"/>
      <p:regular r:id="rId23"/>
      <p:bold r:id="rId24"/>
    </p:embeddedFont>
    <p:embeddedFont>
      <p:font typeface="Poppins Italics" panose="020B0604020202020204" charset="0"/>
      <p:regular r:id="rId25"/>
    </p:embeddedFont>
    <p:embeddedFont>
      <p:font typeface="Poppins Semi-Bold" panose="020B0604020202020204" charset="0"/>
      <p:regular r:id="rId26"/>
    </p:embeddedFont>
    <p:embeddedFont>
      <p:font typeface="Poppins Ultra-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8526" y="4011692"/>
            <a:ext cx="12690948" cy="4039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38"/>
              </a:lnSpc>
            </a:pPr>
            <a:r>
              <a:rPr lang="en-US" sz="6050" b="1">
                <a:solidFill>
                  <a:srgbClr val="0C4054"/>
                </a:solidFill>
                <a:latin typeface="Poppins Bold"/>
                <a:ea typeface="Poppins Bold"/>
                <a:cs typeface="Poppins Bold"/>
                <a:sym typeface="Poppins Bold"/>
              </a:rPr>
              <a:t>Case Workflow</a:t>
            </a:r>
            <a:endParaRPr lang="en-US" sz="6099" b="1">
              <a:solidFill>
                <a:srgbClr val="0C405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12138"/>
              </a:lnSpc>
            </a:pPr>
            <a:r>
              <a:rPr lang="en-US" sz="3200" b="1">
                <a:solidFill>
                  <a:srgbClr val="0C4054"/>
                </a:solidFill>
                <a:latin typeface="Poppins Bold"/>
                <a:ea typeface="Poppins Bold"/>
                <a:cs typeface="Poppins Bold"/>
                <a:sym typeface="Poppins Bold"/>
              </a:rPr>
              <a:t>With</a:t>
            </a:r>
            <a:r>
              <a:rPr lang="en-US" sz="3200" b="1">
                <a:solidFill>
                  <a:srgbClr val="0C4054"/>
                </a:solidFill>
                <a:latin typeface="Poppins Bold"/>
                <a:ea typeface="Poppins Bold"/>
                <a:cs typeface="Poppins Bold"/>
              </a:rPr>
              <a:t> KPIs and Quality Metrics</a:t>
            </a:r>
            <a:endParaRPr lang="en-US" sz="6050" b="1">
              <a:solidFill>
                <a:srgbClr val="0C4054"/>
              </a:solidFill>
              <a:latin typeface="Poppins Bold"/>
              <a:ea typeface="Poppins Bold"/>
              <a:cs typeface="Poppins Bold"/>
            </a:endParaRPr>
          </a:p>
          <a:p>
            <a:pPr algn="ctr">
              <a:lnSpc>
                <a:spcPts val="8158"/>
              </a:lnSpc>
            </a:pPr>
            <a:r>
              <a:rPr lang="en-US" sz="40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October 2025</a:t>
            </a:r>
          </a:p>
        </p:txBody>
      </p:sp>
      <p:sp>
        <p:nvSpPr>
          <p:cNvPr id="3" name="Freeform 3"/>
          <p:cNvSpPr/>
          <p:nvPr/>
        </p:nvSpPr>
        <p:spPr>
          <a:xfrm>
            <a:off x="3493371" y="1975545"/>
            <a:ext cx="11301259" cy="1751695"/>
          </a:xfrm>
          <a:custGeom>
            <a:avLst/>
            <a:gdLst/>
            <a:ahLst/>
            <a:cxnLst/>
            <a:rect l="l" t="t" r="r" b="b"/>
            <a:pathLst>
              <a:path w="11301259" h="1751695">
                <a:moveTo>
                  <a:pt x="0" y="0"/>
                </a:moveTo>
                <a:lnTo>
                  <a:pt x="11301258" y="0"/>
                </a:lnTo>
                <a:lnTo>
                  <a:pt x="11301258" y="1751695"/>
                </a:lnTo>
                <a:lnTo>
                  <a:pt x="0" y="1751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67177" y="3371741"/>
            <a:ext cx="2733373" cy="3543517"/>
            <a:chOff x="0" y="0"/>
            <a:chExt cx="812800" cy="1053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73935" y="3371741"/>
            <a:ext cx="2733373" cy="3543517"/>
            <a:chOff x="0" y="0"/>
            <a:chExt cx="812800" cy="10537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80693" y="3371741"/>
            <a:ext cx="2733373" cy="3543517"/>
            <a:chOff x="0" y="0"/>
            <a:chExt cx="812800" cy="10537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887451" y="3371741"/>
            <a:ext cx="2733373" cy="3543517"/>
            <a:chOff x="0" y="0"/>
            <a:chExt cx="812800" cy="10537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66323" y="1722227"/>
            <a:ext cx="9681970" cy="6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Solutions Department: </a:t>
            </a:r>
            <a:r>
              <a:rPr lang="en-US" sz="3799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SLAs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67176" y="4514125"/>
            <a:ext cx="2733374" cy="115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Referral Confirmation Receipt: </a:t>
            </a:r>
          </a:p>
          <a:p>
            <a:pPr algn="ctr">
              <a:lnSpc>
                <a:spcPts val="3070"/>
              </a:lnSpc>
            </a:pPr>
            <a:r>
              <a:rPr lang="en-US" sz="2192" b="1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&lt;</a:t>
            </a:r>
            <a:r>
              <a:rPr lang="en-US" sz="219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 Hours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0514" y="3465727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40168" y="3465727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17901" y="4514125"/>
            <a:ext cx="2258956" cy="117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 Scheduled Confirmed:</a:t>
            </a:r>
          </a:p>
          <a:p>
            <a:pPr algn="ctr">
              <a:lnSpc>
                <a:spcPts val="3070"/>
              </a:lnSpc>
            </a:pPr>
            <a:r>
              <a:rPr lang="en-US" sz="219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 Business Days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2744" y="4514125"/>
            <a:ext cx="2315754" cy="117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Patient Initial Contact:</a:t>
            </a:r>
          </a:p>
          <a:p>
            <a:pPr algn="ctr">
              <a:lnSpc>
                <a:spcPts val="3070"/>
              </a:lnSpc>
            </a:pPr>
            <a:r>
              <a:rPr lang="en-US" sz="2192" b="1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&lt;</a:t>
            </a:r>
            <a:r>
              <a:rPr lang="en-US" sz="219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 Hours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46926" y="3465727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28465" y="4514125"/>
            <a:ext cx="2308256" cy="117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Referral Date to </a:t>
            </a:r>
          </a:p>
          <a:p>
            <a:pPr algn="ctr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 Date: </a:t>
            </a:r>
          </a:p>
          <a:p>
            <a:pPr algn="ctr">
              <a:lnSpc>
                <a:spcPts val="3070"/>
              </a:lnSpc>
            </a:pPr>
            <a:r>
              <a:rPr lang="en-US" sz="219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 Business Days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54014" y="3465727"/>
            <a:ext cx="50878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648292" y="1643068"/>
            <a:ext cx="957149" cy="957149"/>
            <a:chOff x="0" y="0"/>
            <a:chExt cx="1276198" cy="1276198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276198" cy="1276198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3BD4A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280462" y="272394"/>
              <a:ext cx="740673" cy="655211"/>
            </a:xfrm>
            <a:custGeom>
              <a:avLst/>
              <a:gdLst/>
              <a:ahLst/>
              <a:cxnLst/>
              <a:rect l="l" t="t" r="r" b="b"/>
              <a:pathLst>
                <a:path w="740673" h="655211">
                  <a:moveTo>
                    <a:pt x="0" y="0"/>
                  </a:moveTo>
                  <a:lnTo>
                    <a:pt x="740674" y="0"/>
                  </a:lnTo>
                  <a:lnTo>
                    <a:pt x="740674" y="655211"/>
                  </a:lnTo>
                  <a:lnTo>
                    <a:pt x="0" y="655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15"/>
          <p:cNvSpPr/>
          <p:nvPr/>
        </p:nvSpPr>
        <p:spPr>
          <a:xfrm flipV="1">
            <a:off x="11658600" y="7505031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2" name="AutoShape 82"/>
          <p:cNvSpPr/>
          <p:nvPr/>
        </p:nvSpPr>
        <p:spPr>
          <a:xfrm flipV="1">
            <a:off x="4845084" y="7505031"/>
            <a:ext cx="718478" cy="278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AutoShape 2"/>
          <p:cNvSpPr/>
          <p:nvPr/>
        </p:nvSpPr>
        <p:spPr>
          <a:xfrm flipV="1">
            <a:off x="4845378" y="3424227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179132" y="1455428"/>
            <a:ext cx="2733373" cy="3543517"/>
            <a:chOff x="0" y="0"/>
            <a:chExt cx="812800" cy="1053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79132" y="5658039"/>
            <a:ext cx="2733373" cy="3543300"/>
            <a:chOff x="0" y="0"/>
            <a:chExt cx="812800" cy="10536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53641"/>
            </a:xfrm>
            <a:custGeom>
              <a:avLst/>
              <a:gdLst/>
              <a:ahLst/>
              <a:cxnLst/>
              <a:rect l="l" t="t" r="r" b="b"/>
              <a:pathLst>
                <a:path w="812800" h="1053641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6994"/>
                  </a:lnTo>
                  <a:cubicBezTo>
                    <a:pt x="812800" y="1012018"/>
                    <a:pt x="806832" y="1026426"/>
                    <a:pt x="796208" y="1037050"/>
                  </a:cubicBezTo>
                  <a:cubicBezTo>
                    <a:pt x="785585" y="1047673"/>
                    <a:pt x="771176" y="1053641"/>
                    <a:pt x="756153" y="1053641"/>
                  </a:cubicBezTo>
                  <a:lnTo>
                    <a:pt x="56647" y="1053641"/>
                  </a:lnTo>
                  <a:cubicBezTo>
                    <a:pt x="25362" y="1053641"/>
                    <a:pt x="0" y="1028279"/>
                    <a:pt x="0" y="996994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1101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8205832" y="3427017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V="1">
            <a:off x="11658894" y="3421438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13850318" y="3418824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949794" y="5658039"/>
            <a:ext cx="2733373" cy="3543300"/>
            <a:chOff x="0" y="0"/>
            <a:chExt cx="812800" cy="10536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053641"/>
            </a:xfrm>
            <a:custGeom>
              <a:avLst/>
              <a:gdLst/>
              <a:ahLst/>
              <a:cxnLst/>
              <a:rect l="l" t="t" r="r" b="b"/>
              <a:pathLst>
                <a:path w="812800" h="1053641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6994"/>
                  </a:lnTo>
                  <a:cubicBezTo>
                    <a:pt x="812800" y="1012018"/>
                    <a:pt x="806832" y="1026426"/>
                    <a:pt x="796208" y="1037050"/>
                  </a:cubicBezTo>
                  <a:cubicBezTo>
                    <a:pt x="785585" y="1047673"/>
                    <a:pt x="771176" y="1053641"/>
                    <a:pt x="756153" y="1053641"/>
                  </a:cubicBezTo>
                  <a:lnTo>
                    <a:pt x="56647" y="1053641"/>
                  </a:lnTo>
                  <a:cubicBezTo>
                    <a:pt x="25362" y="1053641"/>
                    <a:pt x="0" y="1028279"/>
                    <a:pt x="0" y="996994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12800" cy="1101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85890" y="1455428"/>
            <a:ext cx="2733373" cy="3543517"/>
            <a:chOff x="0" y="0"/>
            <a:chExt cx="812800" cy="10537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8206126" y="7505031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5585890" y="5658039"/>
            <a:ext cx="2733373" cy="3543300"/>
            <a:chOff x="0" y="0"/>
            <a:chExt cx="812800" cy="10536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1053641"/>
            </a:xfrm>
            <a:custGeom>
              <a:avLst/>
              <a:gdLst/>
              <a:ahLst/>
              <a:cxnLst/>
              <a:rect l="l" t="t" r="r" b="b"/>
              <a:pathLst>
                <a:path w="812800" h="1053641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6994"/>
                  </a:lnTo>
                  <a:cubicBezTo>
                    <a:pt x="812800" y="1012018"/>
                    <a:pt x="806832" y="1026426"/>
                    <a:pt x="796208" y="1037050"/>
                  </a:cubicBezTo>
                  <a:cubicBezTo>
                    <a:pt x="785585" y="1047673"/>
                    <a:pt x="771176" y="1053641"/>
                    <a:pt x="756153" y="1053641"/>
                  </a:cubicBezTo>
                  <a:lnTo>
                    <a:pt x="56647" y="1053641"/>
                  </a:lnTo>
                  <a:cubicBezTo>
                    <a:pt x="25362" y="1053641"/>
                    <a:pt x="0" y="1028279"/>
                    <a:pt x="0" y="996994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12800" cy="1101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92648" y="1455428"/>
            <a:ext cx="2733373" cy="3543517"/>
            <a:chOff x="0" y="0"/>
            <a:chExt cx="812800" cy="10537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19652" y="5658039"/>
            <a:ext cx="2733373" cy="3543300"/>
            <a:chOff x="0" y="0"/>
            <a:chExt cx="812800" cy="10536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1053641"/>
            </a:xfrm>
            <a:custGeom>
              <a:avLst/>
              <a:gdLst/>
              <a:ahLst/>
              <a:cxnLst/>
              <a:rect l="l" t="t" r="r" b="b"/>
              <a:pathLst>
                <a:path w="812800" h="1053641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6994"/>
                  </a:lnTo>
                  <a:cubicBezTo>
                    <a:pt x="812800" y="1012018"/>
                    <a:pt x="806832" y="1026426"/>
                    <a:pt x="796208" y="1037050"/>
                  </a:cubicBezTo>
                  <a:cubicBezTo>
                    <a:pt x="785585" y="1047673"/>
                    <a:pt x="771176" y="1053641"/>
                    <a:pt x="756153" y="1053641"/>
                  </a:cubicBezTo>
                  <a:lnTo>
                    <a:pt x="56647" y="1053641"/>
                  </a:lnTo>
                  <a:cubicBezTo>
                    <a:pt x="25362" y="1053641"/>
                    <a:pt x="0" y="1028279"/>
                    <a:pt x="0" y="996994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12800" cy="1101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94631" y="1464416"/>
            <a:ext cx="2733373" cy="3543517"/>
            <a:chOff x="0" y="0"/>
            <a:chExt cx="812800" cy="10537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978965" y="403544"/>
            <a:ext cx="11776595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Referral Workflow: </a:t>
            </a:r>
            <a:r>
              <a:rPr lang="en-US" sz="3799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Intake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91140" y="2668668"/>
            <a:ext cx="2094625" cy="90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Receipt of referral via E-Mail, Fax, API, Webform, or Phone.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91140" y="6379655"/>
            <a:ext cx="2094625" cy="219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NCM sent referral: </a:t>
            </a:r>
          </a:p>
          <a:p>
            <a:pPr algn="ctr">
              <a:lnSpc>
                <a:spcPts val="1591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needing approval &amp; auth from Adjuster, email Adjuster &amp; cc: NCM </a:t>
            </a:r>
            <a:endParaRPr lang="en-US" sz="165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ts val="1574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686571" y="6557839"/>
            <a:ext cx="2231136" cy="167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“Welcome to Bardavon” SMS message sent to the IW in Engl or Spanish</a:t>
            </a:r>
          </a:p>
          <a:p>
            <a:pPr algn="ctr">
              <a:lnSpc>
                <a:spcPts val="1574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92" i="1">
              <a:solidFill>
                <a:srgbClr val="FFFFFF"/>
              </a:solidFill>
              <a:latin typeface="Arial Italics"/>
              <a:ea typeface="Arial Italics"/>
              <a:cs typeface="Arial Italics"/>
              <a:sym typeface="Arial Itali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352469" y="1549413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352469" y="5757049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752123" y="1549413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69859" y="5757049"/>
            <a:ext cx="455699" cy="401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69859" y="2259203"/>
            <a:ext cx="2315754" cy="2254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Intake Team enters &amp; reviews all received patient &amp; case demographics data; including Client &amp; other stakeholder info.</a:t>
            </a:r>
          </a:p>
          <a:p>
            <a:pPr algn="ctr">
              <a:lnSpc>
                <a:spcPts val="132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r>
              <a:rPr lang="en-US" sz="1392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*Webform /API Automation*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58881" y="1549413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58881" y="5757049"/>
            <a:ext cx="509114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07389" y="2131776"/>
            <a:ext cx="2094625" cy="1881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cs typeface="Arial"/>
              </a:rPr>
              <a:t>Referral receipt </a:t>
            </a:r>
            <a:endParaRPr lang="en-US">
              <a:ea typeface="Calibri"/>
              <a:cs typeface="Calibri"/>
            </a:endParaRPr>
          </a:p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cs typeface="Arial"/>
              </a:rPr>
              <a:t>e-mail to external stakeholders </a:t>
            </a:r>
            <a:endParaRPr lang="en-US">
              <a:ea typeface="Calibri"/>
              <a:cs typeface="Calibri"/>
            </a:endParaRPr>
          </a:p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cs typeface="Arial"/>
              </a:rPr>
              <a:t>within 4 hours of referral receipt </a:t>
            </a:r>
            <a:endParaRPr lang="en-US">
              <a:ea typeface="Calibri"/>
              <a:cs typeface="Calibri"/>
            </a:endParaRPr>
          </a:p>
          <a:p>
            <a:pPr algn="ctr">
              <a:lnSpc>
                <a:spcPts val="846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714004" y="2369089"/>
            <a:ext cx="2094625" cy="213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Adjuster sent referral: </a:t>
            </a:r>
          </a:p>
          <a:p>
            <a:pPr algn="ctr">
              <a:lnSpc>
                <a:spcPts val="1574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authorization is missing, email Adjuster to request. </a:t>
            </a:r>
            <a:endParaRPr lang="en-US" sz="165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ts val="1574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  <a:p>
            <a:pPr algn="ctr">
              <a:lnSpc>
                <a:spcPts val="1950"/>
              </a:lnSpc>
            </a:pPr>
            <a:endParaRPr lang="en-US" sz="1392" i="1">
              <a:solidFill>
                <a:srgbClr val="FFFFFF"/>
              </a:solidFill>
              <a:latin typeface="Arial Italics"/>
              <a:ea typeface="Arial Italics"/>
              <a:cs typeface="Arial Italics"/>
              <a:sym typeface="Arial Italic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559360" y="1558401"/>
            <a:ext cx="51061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6843503" y="9022777"/>
            <a:ext cx="1080225" cy="346318"/>
            <a:chOff x="0" y="0"/>
            <a:chExt cx="1440300" cy="461758"/>
          </a:xfrm>
        </p:grpSpPr>
        <p:sp>
          <p:nvSpPr>
            <p:cNvPr id="60" name="Freeform 60"/>
            <p:cNvSpPr/>
            <p:nvPr/>
          </p:nvSpPr>
          <p:spPr>
            <a:xfrm>
              <a:off x="918313" y="0"/>
              <a:ext cx="521987" cy="461758"/>
            </a:xfrm>
            <a:custGeom>
              <a:avLst/>
              <a:gdLst/>
              <a:ahLst/>
              <a:cxnLst/>
              <a:rect l="l" t="t" r="r" b="b"/>
              <a:pathLst>
                <a:path w="521987" h="461758">
                  <a:moveTo>
                    <a:pt x="0" y="0"/>
                  </a:moveTo>
                  <a:lnTo>
                    <a:pt x="521987" y="0"/>
                  </a:lnTo>
                  <a:lnTo>
                    <a:pt x="521987" y="461758"/>
                  </a:lnTo>
                  <a:lnTo>
                    <a:pt x="0" y="461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74408"/>
              <a:ext cx="794664" cy="387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3"/>
                </a:lnSpc>
              </a:pPr>
              <a:r>
                <a:rPr lang="en-US" sz="186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SLA: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990348" y="4540731"/>
            <a:ext cx="957149" cy="957149"/>
            <a:chOff x="0" y="0"/>
            <a:chExt cx="1276198" cy="1276198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0"/>
              <a:ext cx="1276198" cy="1276198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3BD4A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66" name="Freeform 66"/>
            <p:cNvSpPr/>
            <p:nvPr/>
          </p:nvSpPr>
          <p:spPr>
            <a:xfrm>
              <a:off x="280462" y="272394"/>
              <a:ext cx="740673" cy="655211"/>
            </a:xfrm>
            <a:custGeom>
              <a:avLst/>
              <a:gdLst/>
              <a:ahLst/>
              <a:cxnLst/>
              <a:rect l="l" t="t" r="r" b="b"/>
              <a:pathLst>
                <a:path w="740673" h="655211">
                  <a:moveTo>
                    <a:pt x="0" y="0"/>
                  </a:moveTo>
                  <a:lnTo>
                    <a:pt x="740674" y="0"/>
                  </a:lnTo>
                  <a:lnTo>
                    <a:pt x="740674" y="655211"/>
                  </a:lnTo>
                  <a:lnTo>
                    <a:pt x="0" y="655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373645" y="8717361"/>
            <a:ext cx="957149" cy="957149"/>
            <a:chOff x="0" y="0"/>
            <a:chExt cx="1276198" cy="1276198"/>
          </a:xfrm>
        </p:grpSpPr>
        <p:grpSp>
          <p:nvGrpSpPr>
            <p:cNvPr id="68" name="Group 68"/>
            <p:cNvGrpSpPr/>
            <p:nvPr/>
          </p:nvGrpSpPr>
          <p:grpSpPr>
            <a:xfrm>
              <a:off x="0" y="0"/>
              <a:ext cx="1276198" cy="1276198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3BD4A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71" name="Freeform 71"/>
            <p:cNvSpPr/>
            <p:nvPr/>
          </p:nvSpPr>
          <p:spPr>
            <a:xfrm>
              <a:off x="280462" y="272394"/>
              <a:ext cx="740673" cy="655211"/>
            </a:xfrm>
            <a:custGeom>
              <a:avLst/>
              <a:gdLst/>
              <a:ahLst/>
              <a:cxnLst/>
              <a:rect l="l" t="t" r="r" b="b"/>
              <a:pathLst>
                <a:path w="740673" h="655211">
                  <a:moveTo>
                    <a:pt x="0" y="0"/>
                  </a:moveTo>
                  <a:lnTo>
                    <a:pt x="740674" y="0"/>
                  </a:lnTo>
                  <a:lnTo>
                    <a:pt x="740674" y="655211"/>
                  </a:lnTo>
                  <a:lnTo>
                    <a:pt x="0" y="655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9311867" y="7050281"/>
            <a:ext cx="2094625" cy="90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is manually updated to </a:t>
            </a:r>
            <a:r>
              <a:rPr lang="en-US" sz="1692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Triage</a:t>
            </a: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status.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588041" y="5757049"/>
            <a:ext cx="509114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08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892234" y="6656349"/>
            <a:ext cx="2094625" cy="15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Intake member reaches out via phone, fax, or email to MD/Adjuster for missing critical info.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477000" y="369570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9867205" y="3698489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820452" y="1751824"/>
            <a:ext cx="2733373" cy="3543517"/>
            <a:chOff x="0" y="0"/>
            <a:chExt cx="812800" cy="10537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27210" y="1751824"/>
            <a:ext cx="2733373" cy="3543517"/>
            <a:chOff x="0" y="0"/>
            <a:chExt cx="812800" cy="10537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33968" y="1751824"/>
            <a:ext cx="2733373" cy="3543517"/>
            <a:chOff x="0" y="0"/>
            <a:chExt cx="812800" cy="10537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978965" y="403544"/>
            <a:ext cx="11776595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Referral Workflow: </a:t>
            </a:r>
            <a:r>
              <a:rPr lang="en-US" sz="3799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Triage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20037" y="2592581"/>
            <a:ext cx="2094625" cy="18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Triage member enters remaining required patient &amp; case demographics and logs call with availability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93789" y="1845809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96995" y="1845809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3341" y="2887857"/>
            <a:ext cx="2094625" cy="120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is moved to </a:t>
            </a:r>
            <a:r>
              <a:rPr lang="en-US" sz="1692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Scheduling s</a:t>
            </a: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tatus and assigned for scheduling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38690" y="2566744"/>
            <a:ext cx="2315754" cy="212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Triage member contacts IW for IE availability within next 3 business days and gathers any missing information (e.g. Job Title, Work Status, etc.)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00201" y="1845809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30" name="AutoShape 30"/>
          <p:cNvSpPr/>
          <p:nvPr/>
        </p:nvSpPr>
        <p:spPr>
          <a:xfrm>
            <a:off x="5181489" y="5295341"/>
            <a:ext cx="0" cy="721362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V="1">
            <a:off x="6460153" y="7982713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 flipV="1">
            <a:off x="9866911" y="7985502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3793906" y="6016703"/>
            <a:ext cx="2733373" cy="3543517"/>
            <a:chOff x="0" y="0"/>
            <a:chExt cx="812800" cy="10537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00664" y="6016703"/>
            <a:ext cx="2733373" cy="3543517"/>
            <a:chOff x="0" y="0"/>
            <a:chExt cx="812800" cy="10537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4002716" y="6756422"/>
            <a:ext cx="2324680" cy="18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 unable to contact patient: </a:t>
            </a:r>
          </a:p>
          <a:p>
            <a:pPr algn="ctr">
              <a:lnSpc>
                <a:spcPts val="2368"/>
              </a:lnSpc>
            </a:pPr>
            <a:endParaRPr lang="en-US" sz="1691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2368"/>
              </a:lnSpc>
            </a:pPr>
            <a:r>
              <a:rPr lang="en-US" sz="16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SMS message reminding the patient to schedule is sent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03604" y="6630708"/>
            <a:ext cx="2094625" cy="24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 unable to contact patient after multiple attempts:</a:t>
            </a:r>
          </a:p>
          <a:p>
            <a:pPr algn="ctr">
              <a:lnSpc>
                <a:spcPts val="2370"/>
              </a:lnSpc>
            </a:pPr>
            <a:endParaRPr lang="en-US" sz="1692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 to Stakeholders for additional contact information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85354" y="6119746"/>
            <a:ext cx="699717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93443" y="6119746"/>
            <a:ext cx="64749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01b</a:t>
            </a:r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A17C6B81-7ACE-BD4B-F171-462A434F9BCC}"/>
              </a:ext>
            </a:extLst>
          </p:cNvPr>
          <p:cNvGrpSpPr/>
          <p:nvPr/>
        </p:nvGrpSpPr>
        <p:grpSpPr>
          <a:xfrm>
            <a:off x="10655967" y="5986548"/>
            <a:ext cx="2733373" cy="3543517"/>
            <a:chOff x="0" y="0"/>
            <a:chExt cx="812800" cy="1053706"/>
          </a:xfrm>
        </p:grpSpPr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BDA504C4-136E-310A-CA32-F7D11D5145D7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38">
              <a:extLst>
                <a:ext uri="{FF2B5EF4-FFF2-40B4-BE49-F238E27FC236}">
                  <a16:creationId xmlns:a16="http://schemas.microsoft.com/office/drawing/2014/main" id="{25FFF7CD-45FB-8B5E-2FA3-318955391191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6" name="TextBox 40">
            <a:extLst>
              <a:ext uri="{FF2B5EF4-FFF2-40B4-BE49-F238E27FC236}">
                <a16:creationId xmlns:a16="http://schemas.microsoft.com/office/drawing/2014/main" id="{4679BBD6-F51B-F85A-3909-58A8BD401A33}"/>
              </a:ext>
            </a:extLst>
          </p:cNvPr>
          <p:cNvSpPr txBox="1"/>
          <p:nvPr/>
        </p:nvSpPr>
        <p:spPr>
          <a:xfrm>
            <a:off x="10958907" y="6600553"/>
            <a:ext cx="2094625" cy="30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Adj Escalation if patient is non-responsive:</a:t>
            </a:r>
          </a:p>
          <a:p>
            <a:pPr algn="ctr">
              <a:lnSpc>
                <a:spcPts val="2370"/>
              </a:lnSpc>
            </a:pPr>
            <a:endParaRPr lang="en-US" sz="1692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285750" indent="-285750">
              <a:lnSpc>
                <a:spcPts val="2370"/>
              </a:lnSpc>
              <a:buFont typeface="Arial" panose="020B0604020202020204" pitchFamily="34" charset="0"/>
              <a:buChar char="•"/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Schedule and Adj notify patient </a:t>
            </a:r>
          </a:p>
          <a:p>
            <a:pPr marL="285750" indent="-285750">
              <a:lnSpc>
                <a:spcPts val="2370"/>
              </a:lnSpc>
              <a:buFont typeface="Arial" panose="020B0604020202020204" pitchFamily="34" charset="0"/>
              <a:buChar char="•"/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case on hold if medically related issues</a:t>
            </a:r>
          </a:p>
          <a:p>
            <a:pPr marL="285750" indent="-285750" algn="ctr">
              <a:lnSpc>
                <a:spcPts val="2370"/>
              </a:lnSpc>
              <a:buFont typeface="Arial" panose="020B0604020202020204" pitchFamily="34" charset="0"/>
              <a:buChar char="•"/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TextBox 42">
            <a:extLst>
              <a:ext uri="{FF2B5EF4-FFF2-40B4-BE49-F238E27FC236}">
                <a16:creationId xmlns:a16="http://schemas.microsoft.com/office/drawing/2014/main" id="{B66B3795-AC1F-F716-6C61-A4A8675ABB20}"/>
              </a:ext>
            </a:extLst>
          </p:cNvPr>
          <p:cNvSpPr txBox="1"/>
          <p:nvPr/>
        </p:nvSpPr>
        <p:spPr>
          <a:xfrm>
            <a:off x="10848746" y="6089591"/>
            <a:ext cx="64749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32"/>
          <p:cNvSpPr/>
          <p:nvPr/>
        </p:nvSpPr>
        <p:spPr>
          <a:xfrm>
            <a:off x="4114800" y="5143500"/>
            <a:ext cx="0" cy="721362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2748114" y="1654088"/>
            <a:ext cx="2733373" cy="3543517"/>
            <a:chOff x="0" y="0"/>
            <a:chExt cx="812800" cy="1053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54841" y="1679400"/>
            <a:ext cx="2733373" cy="3543300"/>
            <a:chOff x="0" y="0"/>
            <a:chExt cx="812800" cy="10536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3641"/>
            </a:xfrm>
            <a:custGeom>
              <a:avLst/>
              <a:gdLst/>
              <a:ahLst/>
              <a:cxnLst/>
              <a:rect l="l" t="t" r="r" b="b"/>
              <a:pathLst>
                <a:path w="812800" h="1053641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6994"/>
                  </a:lnTo>
                  <a:cubicBezTo>
                    <a:pt x="812800" y="1012018"/>
                    <a:pt x="806832" y="1026426"/>
                    <a:pt x="796208" y="1037050"/>
                  </a:cubicBezTo>
                  <a:cubicBezTo>
                    <a:pt x="785585" y="1047673"/>
                    <a:pt x="771176" y="1053641"/>
                    <a:pt x="756153" y="1053641"/>
                  </a:cubicBezTo>
                  <a:lnTo>
                    <a:pt x="56647" y="1053641"/>
                  </a:lnTo>
                  <a:cubicBezTo>
                    <a:pt x="25362" y="1053641"/>
                    <a:pt x="0" y="1028279"/>
                    <a:pt x="0" y="996994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1101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67435" y="1600200"/>
            <a:ext cx="2733373" cy="3543300"/>
            <a:chOff x="0" y="0"/>
            <a:chExt cx="812800" cy="10536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3641"/>
            </a:xfrm>
            <a:custGeom>
              <a:avLst/>
              <a:gdLst/>
              <a:ahLst/>
              <a:cxnLst/>
              <a:rect l="l" t="t" r="r" b="b"/>
              <a:pathLst>
                <a:path w="812800" h="1053641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6994"/>
                  </a:lnTo>
                  <a:cubicBezTo>
                    <a:pt x="812800" y="1012018"/>
                    <a:pt x="806832" y="1026426"/>
                    <a:pt x="796208" y="1037050"/>
                  </a:cubicBezTo>
                  <a:cubicBezTo>
                    <a:pt x="785585" y="1047673"/>
                    <a:pt x="771176" y="1053641"/>
                    <a:pt x="756153" y="1053641"/>
                  </a:cubicBezTo>
                  <a:lnTo>
                    <a:pt x="56647" y="1053641"/>
                  </a:lnTo>
                  <a:cubicBezTo>
                    <a:pt x="25362" y="1053641"/>
                    <a:pt x="0" y="1028279"/>
                    <a:pt x="0" y="996994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1101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09065" y="1663789"/>
            <a:ext cx="2733373" cy="3543517"/>
            <a:chOff x="0" y="0"/>
            <a:chExt cx="812800" cy="10537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78965" y="403544"/>
            <a:ext cx="11776595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Referral Workflow: </a:t>
            </a:r>
            <a:r>
              <a:rPr lang="en-US" sz="3799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Scheduling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54074" y="2153369"/>
            <a:ext cx="2332750" cy="274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Utilizing patient’s availability, Scheduler calls network clinics to schedule IE w/in 3 business day SLA - as recommended using the Clinic Placement Tool (CPT,) stakeholder and patient preference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74214" y="3003171"/>
            <a:ext cx="2094625" cy="89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 details are texted to the patient for confirmation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82696" y="2182580"/>
            <a:ext cx="2231136" cy="301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Scheduler sends IE confirmation to clinic and stakeholder via fax or email, based on SHI</a:t>
            </a: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r>
              <a:rPr lang="en-US" sz="1392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*Template 3A*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27100" y="1693968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57889" y="1719280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83564" y="1719280"/>
            <a:ext cx="402134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73794" y="1719280"/>
            <a:ext cx="51061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12383460" y="3508915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5478419" y="3441939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V="1">
            <a:off x="8933207" y="3552593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3428945" y="2780684"/>
            <a:ext cx="2094625" cy="151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 hours prior to IE appointment, patient text is sent to confirm appointment will be attended 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727217" y="5864862"/>
            <a:ext cx="2733373" cy="3543517"/>
            <a:chOff x="0" y="0"/>
            <a:chExt cx="812800" cy="10537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936027" y="6604581"/>
            <a:ext cx="2324680" cy="151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 unable to identify in-network clinic for scheduling: </a:t>
            </a:r>
          </a:p>
          <a:p>
            <a:pPr algn="ctr">
              <a:lnSpc>
                <a:spcPts val="2368"/>
              </a:lnSpc>
            </a:pPr>
            <a:r>
              <a:rPr lang="en-US" sz="16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is assigned to Extended Network team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32385" y="5967905"/>
            <a:ext cx="699717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01a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199834" y="5890174"/>
            <a:ext cx="2733373" cy="3543517"/>
            <a:chOff x="0" y="0"/>
            <a:chExt cx="812800" cy="105370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373794" y="5993217"/>
            <a:ext cx="699717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9208" y="6521670"/>
            <a:ext cx="2094625" cy="280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Pending Clinic Preference &amp; State</a:t>
            </a: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CSA may need to send referral placement request to clinic via fax or email prior to scheduling IE details.</a:t>
            </a:r>
          </a:p>
          <a:p>
            <a:pPr algn="ctr">
              <a:lnSpc>
                <a:spcPts val="83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7276179" y="5207307"/>
            <a:ext cx="0" cy="721362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 flipV="1">
            <a:off x="7877499" y="5222700"/>
            <a:ext cx="0" cy="667473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514600" y="1690208"/>
            <a:ext cx="2733373" cy="3543517"/>
            <a:chOff x="0" y="0"/>
            <a:chExt cx="812800" cy="1053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5297071" y="3537597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8749251" y="3597188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6092530" y="1631178"/>
            <a:ext cx="2733373" cy="3543517"/>
            <a:chOff x="0" y="0"/>
            <a:chExt cx="812800" cy="10537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99288" y="1631178"/>
            <a:ext cx="2733373" cy="3543517"/>
            <a:chOff x="0" y="0"/>
            <a:chExt cx="812800" cy="10537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590830" y="1289866"/>
            <a:ext cx="2733373" cy="37036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978965" y="403544"/>
            <a:ext cx="11776595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CS Referral Workflow: </a:t>
            </a:r>
            <a:r>
              <a:rPr lang="en-US" sz="3799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Re-Schedule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26608" y="2903448"/>
            <a:ext cx="2094625" cy="120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to re-schedule initial IE appointment – via patient or clinic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87937" y="1784193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08358" y="2253807"/>
            <a:ext cx="2094625" cy="239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Scheduler utilizes IW’s original availability; contacts clinic to re-schedule IE; sends confirmation e-mail to clinic upon scheduling</a:t>
            </a: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258763" y="1725163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75156" y="2691785"/>
            <a:ext cx="2087259" cy="239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CSA sends updated confirmation to stakeholders</a:t>
            </a: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665851" y="1725163"/>
            <a:ext cx="50878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381E73FA-40C6-5448-F46B-761AA5533B2D}"/>
              </a:ext>
            </a:extLst>
          </p:cNvPr>
          <p:cNvGrpSpPr/>
          <p:nvPr/>
        </p:nvGrpSpPr>
        <p:grpSpPr>
          <a:xfrm>
            <a:off x="12906045" y="1648718"/>
            <a:ext cx="2733373" cy="3543517"/>
            <a:chOff x="0" y="0"/>
            <a:chExt cx="812800" cy="105370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233D745-0B4A-7456-AADD-325827F7E344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0F7CEF1D-51DD-2D8F-7151-627AA8D25BCF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TextBox 29">
            <a:extLst>
              <a:ext uri="{FF2B5EF4-FFF2-40B4-BE49-F238E27FC236}">
                <a16:creationId xmlns:a16="http://schemas.microsoft.com/office/drawing/2014/main" id="{9232A966-E869-24C0-63B7-FCDD9B197E84}"/>
              </a:ext>
            </a:extLst>
          </p:cNvPr>
          <p:cNvSpPr txBox="1"/>
          <p:nvPr/>
        </p:nvSpPr>
        <p:spPr>
          <a:xfrm>
            <a:off x="13072608" y="1742703"/>
            <a:ext cx="50878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E79D9E-9FC8-EBC4-F687-74A853F54934}"/>
              </a:ext>
            </a:extLst>
          </p:cNvPr>
          <p:cNvSpPr txBox="1"/>
          <p:nvPr/>
        </p:nvSpPr>
        <p:spPr>
          <a:xfrm>
            <a:off x="13230068" y="2676603"/>
            <a:ext cx="2094625" cy="2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Patient confirmations</a:t>
            </a:r>
          </a:p>
        </p:txBody>
      </p:sp>
      <p:sp>
        <p:nvSpPr>
          <p:cNvPr id="38" name="AutoShape 7">
            <a:extLst>
              <a:ext uri="{FF2B5EF4-FFF2-40B4-BE49-F238E27FC236}">
                <a16:creationId xmlns:a16="http://schemas.microsoft.com/office/drawing/2014/main" id="{4C44EA63-E3CE-705D-35A1-610186FBC4B7}"/>
              </a:ext>
            </a:extLst>
          </p:cNvPr>
          <p:cNvSpPr/>
          <p:nvPr/>
        </p:nvSpPr>
        <p:spPr>
          <a:xfrm flipV="1">
            <a:off x="12208683" y="3590092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3622577" y="400050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56331" y="2031701"/>
            <a:ext cx="2733373" cy="3543517"/>
            <a:chOff x="0" y="0"/>
            <a:chExt cx="812800" cy="1053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6983031" y="400329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0436093" y="3997711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3842851" y="400050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363089" y="2031701"/>
            <a:ext cx="2733373" cy="3543517"/>
            <a:chOff x="0" y="0"/>
            <a:chExt cx="812800" cy="10537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769847" y="2031701"/>
            <a:ext cx="2733373" cy="3543517"/>
            <a:chOff x="0" y="0"/>
            <a:chExt cx="812800" cy="10537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176605" y="2031701"/>
            <a:ext cx="2733373" cy="3543517"/>
            <a:chOff x="0" y="0"/>
            <a:chExt cx="812800" cy="10537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583363" y="2031701"/>
            <a:ext cx="2733373" cy="3543517"/>
            <a:chOff x="0" y="0"/>
            <a:chExt cx="812800" cy="10537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56331" y="826000"/>
            <a:ext cx="16360405" cy="646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Visit </a:t>
            </a:r>
            <a:r>
              <a:rPr lang="en-US" sz="3750" b="1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Mangement</a:t>
            </a: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Workflow: </a:t>
            </a:r>
            <a:r>
              <a:rPr lang="en-US" sz="3750" b="1">
                <a:solidFill>
                  <a:srgbClr val="FFC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IE</a:t>
            </a: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750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Confirming Attendance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5704" y="3036611"/>
            <a:ext cx="2094625" cy="181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note or bill received from clinic within 48 hours, email sent to external stakeholders confirming attendance and start of care.</a:t>
            </a:r>
            <a:endParaRPr lang="en-US" sz="16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9668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9322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55597" y="3042169"/>
            <a:ext cx="2094625" cy="15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any documentation is missing, request is made via email, fax or phone depending on clinic preference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32484" y="2534904"/>
            <a:ext cx="2315754" cy="301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no note or bill within 48 hours, Visit Management associate (VM)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call clinic to confirm attendance &amp; gather upcoming appointment details. Email sent to  </a:t>
            </a:r>
          </a:p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external stakeholders.</a:t>
            </a:r>
            <a:endParaRPr lang="en-US"/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936080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03122" y="2560785"/>
            <a:ext cx="2480339" cy="2255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appointment was attended case is moved to </a:t>
            </a:r>
            <a:r>
              <a:rPr lang="en-US" sz="165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Therapy in Progress</a:t>
            </a: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status. </a:t>
            </a:r>
          </a:p>
          <a:p>
            <a:pPr algn="ctr">
              <a:lnSpc>
                <a:spcPts val="966"/>
              </a:lnSpc>
            </a:pPr>
            <a:endParaRPr lang="en-US" sz="16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65"/>
              </a:lnSpc>
            </a:pPr>
            <a:r>
              <a:rPr lang="en-US" sz="16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will automatically flip the case owner from CSA to Case Admin (CA)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43168" y="2125686"/>
            <a:ext cx="50878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16911" y="2830507"/>
            <a:ext cx="2109787" cy="223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appointment was NOT attended - VM marks appointment as canceled; case is automatically moved back to </a:t>
            </a:r>
            <a:r>
              <a:rPr lang="en-US" sz="1575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Scheduling </a:t>
            </a: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status, case owner changed back to CSA.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48092" y="2125686"/>
            <a:ext cx="51061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3630044" y="3418824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63798" y="1450025"/>
            <a:ext cx="2733373" cy="3543517"/>
            <a:chOff x="0" y="0"/>
            <a:chExt cx="812800" cy="1053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7055679" y="3421614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370556" y="1450025"/>
            <a:ext cx="2733373" cy="3543517"/>
            <a:chOff x="0" y="0"/>
            <a:chExt cx="812800" cy="10537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77314" y="1450025"/>
            <a:ext cx="2733373" cy="3543517"/>
            <a:chOff x="0" y="0"/>
            <a:chExt cx="812800" cy="10537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403544"/>
            <a:ext cx="16354915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Visit Management Workflow: </a:t>
            </a:r>
            <a:r>
              <a:rPr lang="en-US" sz="3750" b="1">
                <a:solidFill>
                  <a:srgbClr val="FFCB0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Therapy in Progress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7950" y="2438421"/>
            <a:ext cx="2094625" cy="181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gets task if no notes/bills received within 5 days indicating gap in care OR delinquent notes/bills.</a:t>
            </a:r>
            <a:endParaRPr lang="en-US" sz="16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7135" y="1544010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36789" y="1544010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84244" y="2466127"/>
            <a:ext cx="2094625" cy="212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documentation is still missing or IW has not attended, 2nd request is made to clinic to get a status update or missing docs. 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7774" y="2586058"/>
            <a:ext cx="2315754" cy="151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 is called to determine reason for gap or missing notes and requests submission within 48 hours.</a:t>
            </a:r>
            <a:endParaRPr lang="en-US" sz="16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43547" y="1544010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186961" y="1450025"/>
            <a:ext cx="2733373" cy="3543517"/>
            <a:chOff x="0" y="0"/>
            <a:chExt cx="812800" cy="105370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348679" y="2301551"/>
            <a:ext cx="2419789" cy="2131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escalates to the following client-dedicated pod members to ensure stakeholders are notified and case is managed appropriately to discharge.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353195" y="1544010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31" name="AutoShape 31"/>
          <p:cNvSpPr/>
          <p:nvPr/>
        </p:nvSpPr>
        <p:spPr>
          <a:xfrm flipV="1">
            <a:off x="10465327" y="3305799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33">
            <a:extLst>
              <a:ext uri="{FF2B5EF4-FFF2-40B4-BE49-F238E27FC236}">
                <a16:creationId xmlns:a16="http://schemas.microsoft.com/office/drawing/2014/main" id="{A6A900B0-A3F8-80F0-4D1E-467BA11A9280}"/>
              </a:ext>
            </a:extLst>
          </p:cNvPr>
          <p:cNvGrpSpPr/>
          <p:nvPr/>
        </p:nvGrpSpPr>
        <p:grpSpPr>
          <a:xfrm>
            <a:off x="4688053" y="6000306"/>
            <a:ext cx="2733373" cy="3703676"/>
            <a:chOff x="0" y="-47625"/>
            <a:chExt cx="812800" cy="1101331"/>
          </a:xfrm>
        </p:grpSpPr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C90DD321-77E7-6DC9-13E1-A0F79307698E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D0918C03-58ED-5043-FDEA-4A6C2AEB99CC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F3093AD9-450F-93AD-95CB-94541F4EBEE2}"/>
              </a:ext>
            </a:extLst>
          </p:cNvPr>
          <p:cNvGrpSpPr/>
          <p:nvPr/>
        </p:nvGrpSpPr>
        <p:grpSpPr>
          <a:xfrm>
            <a:off x="7944289" y="6004905"/>
            <a:ext cx="2733373" cy="3703676"/>
            <a:chOff x="0" y="-47625"/>
            <a:chExt cx="812800" cy="1101331"/>
          </a:xfrm>
        </p:grpSpPr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991720F3-A033-E61E-A35A-3B66FEB3F9D0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D4DA2B31-ABF7-0CAB-66D4-311E98FF6E9B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7" name="Group 33">
            <a:extLst>
              <a:ext uri="{FF2B5EF4-FFF2-40B4-BE49-F238E27FC236}">
                <a16:creationId xmlns:a16="http://schemas.microsoft.com/office/drawing/2014/main" id="{17FA5E09-147D-9C41-0142-90F22DC7F7AA}"/>
              </a:ext>
            </a:extLst>
          </p:cNvPr>
          <p:cNvGrpSpPr/>
          <p:nvPr/>
        </p:nvGrpSpPr>
        <p:grpSpPr>
          <a:xfrm>
            <a:off x="11348327" y="6009503"/>
            <a:ext cx="2733373" cy="3703676"/>
            <a:chOff x="0" y="-47625"/>
            <a:chExt cx="812800" cy="1101331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58EB8B4-4067-C2B4-C2E7-5DB95BE7F2CF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419C91-903E-D6E9-FEA6-D5FF69A299A0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1" name="Group 33">
            <a:extLst>
              <a:ext uri="{FF2B5EF4-FFF2-40B4-BE49-F238E27FC236}">
                <a16:creationId xmlns:a16="http://schemas.microsoft.com/office/drawing/2014/main" id="{A03344B2-0743-FD57-F0EF-AD8A70C982C0}"/>
              </a:ext>
            </a:extLst>
          </p:cNvPr>
          <p:cNvGrpSpPr/>
          <p:nvPr/>
        </p:nvGrpSpPr>
        <p:grpSpPr>
          <a:xfrm>
            <a:off x="14752365" y="6014101"/>
            <a:ext cx="2733373" cy="3703676"/>
            <a:chOff x="0" y="-47625"/>
            <a:chExt cx="812800" cy="1101331"/>
          </a:xfrm>
        </p:grpSpPr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464101D3-CC72-4BB4-65BA-D09716210F81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35">
              <a:extLst>
                <a:ext uri="{FF2B5EF4-FFF2-40B4-BE49-F238E27FC236}">
                  <a16:creationId xmlns:a16="http://schemas.microsoft.com/office/drawing/2014/main" id="{4788052C-BA05-3AAB-3F5E-530B4DE769F7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BB801B4-1420-39C1-786B-6CB5132E67FE}"/>
              </a:ext>
            </a:extLst>
          </p:cNvPr>
          <p:cNvSpPr txBox="1"/>
          <p:nvPr/>
        </p:nvSpPr>
        <p:spPr>
          <a:xfrm>
            <a:off x="8111700" y="6670784"/>
            <a:ext cx="2384535" cy="1638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b="1" err="1">
                <a:latin typeface="Arial"/>
              </a:rPr>
              <a:t>ReAuthorization</a:t>
            </a:r>
            <a:r>
              <a:rPr lang="en-US" sz="1650" b="1">
                <a:latin typeface="Arial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>
                <a:latin typeface="Arial"/>
              </a:rPr>
              <a:t>end of authorization and need for additional visits or discharge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639DCB-647F-45FA-542B-321C1713A148}"/>
              </a:ext>
            </a:extLst>
          </p:cNvPr>
          <p:cNvSpPr txBox="1"/>
          <p:nvPr/>
        </p:nvSpPr>
        <p:spPr>
          <a:xfrm>
            <a:off x="11496129" y="6720052"/>
            <a:ext cx="2162721" cy="18928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b="1">
                <a:latin typeface="Arial"/>
                <a:ea typeface="Segoe UI"/>
                <a:cs typeface="Segoe UI"/>
              </a:rPr>
              <a:t>Clinical Coach: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>
                <a:latin typeface="Arial"/>
                <a:ea typeface="Segoe UI"/>
                <a:cs typeface="Segoe UI"/>
              </a:rPr>
              <a:t>medical issues or clinical concerns documented in notes</a:t>
            </a:r>
          </a:p>
          <a:p>
            <a:r>
              <a:rPr sz="165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0F487-052D-9569-DBF4-DF8B7C92E8CC}"/>
              </a:ext>
            </a:extLst>
          </p:cNvPr>
          <p:cNvSpPr txBox="1"/>
          <p:nvPr/>
        </p:nvSpPr>
        <p:spPr>
          <a:xfrm>
            <a:off x="14839294" y="6670784"/>
            <a:ext cx="2029810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b="1">
                <a:latin typeface="Arial"/>
              </a:rPr>
              <a:t>Rev Cycle:</a:t>
            </a:r>
            <a:endParaRPr lang="en-US" sz="165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>
                <a:latin typeface="Arial"/>
              </a:rPr>
              <a:t>Direct billing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>
                <a:latin typeface="Arial"/>
              </a:rPr>
              <a:t>Difficulty submitting claims</a:t>
            </a:r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6191B7-7828-F0C9-F0E8-69D94F15D956}"/>
              </a:ext>
            </a:extLst>
          </p:cNvPr>
          <p:cNvSpPr txBox="1"/>
          <p:nvPr/>
        </p:nvSpPr>
        <p:spPr>
          <a:xfrm>
            <a:off x="4866612" y="6722933"/>
            <a:ext cx="218699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Case Administrator: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libri"/>
                <a:cs typeface="Calibri"/>
              </a:rPr>
              <a:t>Delinquent clinic response for note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libri"/>
                <a:cs typeface="Calibri"/>
              </a:rPr>
              <a:t>Gaps in care or patient non-compliance</a:t>
            </a:r>
          </a:p>
          <a:p>
            <a:endParaRPr lang="en-US" b="1"/>
          </a:p>
        </p:txBody>
      </p:sp>
      <p:sp>
        <p:nvSpPr>
          <p:cNvPr id="20" name="AutoShape 32">
            <a:extLst>
              <a:ext uri="{FF2B5EF4-FFF2-40B4-BE49-F238E27FC236}">
                <a16:creationId xmlns:a16="http://schemas.microsoft.com/office/drawing/2014/main" id="{AB14A70B-2ABC-0A77-C61D-390380798BC6}"/>
              </a:ext>
            </a:extLst>
          </p:cNvPr>
          <p:cNvSpPr/>
          <p:nvPr/>
        </p:nvSpPr>
        <p:spPr>
          <a:xfrm flipH="1">
            <a:off x="7094097" y="5073133"/>
            <a:ext cx="5357102" cy="971615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13A35A98-C656-891D-7BEB-A6DE72401E12}"/>
              </a:ext>
            </a:extLst>
          </p:cNvPr>
          <p:cNvSpPr/>
          <p:nvPr/>
        </p:nvSpPr>
        <p:spPr>
          <a:xfrm flipH="1">
            <a:off x="9705370" y="5097288"/>
            <a:ext cx="2781601" cy="991806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2">
            <a:extLst>
              <a:ext uri="{FF2B5EF4-FFF2-40B4-BE49-F238E27FC236}">
                <a16:creationId xmlns:a16="http://schemas.microsoft.com/office/drawing/2014/main" id="{745568DB-3145-320B-663A-1821EAD77D6E}"/>
              </a:ext>
            </a:extLst>
          </p:cNvPr>
          <p:cNvSpPr/>
          <p:nvPr/>
        </p:nvSpPr>
        <p:spPr>
          <a:xfrm>
            <a:off x="12486973" y="5037887"/>
            <a:ext cx="19050" cy="1122577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2">
            <a:extLst>
              <a:ext uri="{FF2B5EF4-FFF2-40B4-BE49-F238E27FC236}">
                <a16:creationId xmlns:a16="http://schemas.microsoft.com/office/drawing/2014/main" id="{60E99361-C4F0-0D19-5892-7D0C7D18D0EE}"/>
              </a:ext>
            </a:extLst>
          </p:cNvPr>
          <p:cNvSpPr/>
          <p:nvPr/>
        </p:nvSpPr>
        <p:spPr>
          <a:xfrm>
            <a:off x="12486973" y="5056557"/>
            <a:ext cx="2800652" cy="90859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B37A4-F365-CDE4-6D34-062D9F44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D679375-0DCC-9457-FE02-43A40A0C2465}"/>
              </a:ext>
            </a:extLst>
          </p:cNvPr>
          <p:cNvGrpSpPr/>
          <p:nvPr/>
        </p:nvGrpSpPr>
        <p:grpSpPr>
          <a:xfrm>
            <a:off x="2547006" y="2317451"/>
            <a:ext cx="2733373" cy="3543517"/>
            <a:chOff x="0" y="0"/>
            <a:chExt cx="812800" cy="10537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8FA7C17-E365-598A-52B2-54FEB5B6D3C8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B0239C7-D448-C3CA-583A-265C850600B4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2C47D41-7F2C-65D9-7B3B-57241C29BA45}"/>
              </a:ext>
            </a:extLst>
          </p:cNvPr>
          <p:cNvGrpSpPr/>
          <p:nvPr/>
        </p:nvGrpSpPr>
        <p:grpSpPr>
          <a:xfrm>
            <a:off x="5953764" y="2317451"/>
            <a:ext cx="2733373" cy="3543517"/>
            <a:chOff x="0" y="0"/>
            <a:chExt cx="812800" cy="105370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9745AEF-E19A-D4E5-5DEC-0536E305C9D5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D2DF775-0DE2-9058-1168-3770B52160DA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40A756D-FBF2-A1D9-AC5E-667EFEF090EC}"/>
              </a:ext>
            </a:extLst>
          </p:cNvPr>
          <p:cNvGrpSpPr/>
          <p:nvPr/>
        </p:nvGrpSpPr>
        <p:grpSpPr>
          <a:xfrm>
            <a:off x="9360522" y="2317451"/>
            <a:ext cx="2733373" cy="3543517"/>
            <a:chOff x="0" y="0"/>
            <a:chExt cx="812800" cy="105370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405744C-AD22-5449-B1A0-9226069653A3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354F2E6-F233-6EF0-387C-703A795B90A4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3F4144B6-77CC-0EBE-21C2-EE03FC46F68C}"/>
              </a:ext>
            </a:extLst>
          </p:cNvPr>
          <p:cNvGrpSpPr/>
          <p:nvPr/>
        </p:nvGrpSpPr>
        <p:grpSpPr>
          <a:xfrm>
            <a:off x="12752993" y="2303163"/>
            <a:ext cx="2733373" cy="3543517"/>
            <a:chOff x="0" y="0"/>
            <a:chExt cx="812800" cy="10537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3D83BD5-2A7E-770D-6CD8-3CE11D556D24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6CA5C97-1CC6-0A05-3A57-FDEA290353A5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2C8006EA-C178-9A36-E0BB-FAE878262CE4}"/>
              </a:ext>
            </a:extLst>
          </p:cNvPr>
          <p:cNvSpPr txBox="1"/>
          <p:nvPr/>
        </p:nvSpPr>
        <p:spPr>
          <a:xfrm>
            <a:off x="956331" y="826000"/>
            <a:ext cx="16360405" cy="644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Case Administrator Workflow: </a:t>
            </a:r>
            <a:r>
              <a:rPr lang="en-US" sz="3750" b="1">
                <a:solidFill>
                  <a:srgbClr val="FFC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Therapy in Progress</a:t>
            </a:r>
            <a:endParaRPr lang="en-US" sz="3750" b="1">
              <a:solidFill>
                <a:srgbClr val="FFC000"/>
              </a:solidFill>
              <a:latin typeface="Poppins Semi-Bold"/>
              <a:ea typeface="Poppins Semi-Bold"/>
              <a:cs typeface="Poppins Semi-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6399440-B299-DD65-3A77-A7C8E327473E}"/>
              </a:ext>
            </a:extLst>
          </p:cNvPr>
          <p:cNvSpPr txBox="1"/>
          <p:nvPr/>
        </p:nvSpPr>
        <p:spPr>
          <a:xfrm>
            <a:off x="2866379" y="3322361"/>
            <a:ext cx="2094625" cy="1510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point of contact for client stakeholders for all "Therapy in Progress" cases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4B8C7AE-738D-6079-4DFA-B14898E6F028}"/>
              </a:ext>
            </a:extLst>
          </p:cNvPr>
          <p:cNvSpPr txBox="1"/>
          <p:nvPr/>
        </p:nvSpPr>
        <p:spPr>
          <a:xfrm>
            <a:off x="2720343" y="2411436"/>
            <a:ext cx="473435" cy="416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5747BDE-BB1D-B905-773E-F7706567BE12}"/>
              </a:ext>
            </a:extLst>
          </p:cNvPr>
          <p:cNvSpPr txBox="1"/>
          <p:nvPr/>
        </p:nvSpPr>
        <p:spPr>
          <a:xfrm>
            <a:off x="6119997" y="2411436"/>
            <a:ext cx="473435" cy="416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DDFBCA0-D854-79A0-F843-C41D2A01B786}"/>
              </a:ext>
            </a:extLst>
          </p:cNvPr>
          <p:cNvSpPr txBox="1"/>
          <p:nvPr/>
        </p:nvSpPr>
        <p:spPr>
          <a:xfrm>
            <a:off x="4571898" y="2830507"/>
            <a:ext cx="2315754" cy="547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50" i="1">
              <a:solidFill>
                <a:srgbClr val="FFFFFF"/>
              </a:solidFill>
              <a:latin typeface="Arial Italics"/>
              <a:ea typeface="Arial Italics"/>
              <a:cs typeface="Arial Italics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B381B0A-5C9F-5EB1-5642-B1D09AABE771}"/>
              </a:ext>
            </a:extLst>
          </p:cNvPr>
          <p:cNvSpPr txBox="1"/>
          <p:nvPr/>
        </p:nvSpPr>
        <p:spPr>
          <a:xfrm>
            <a:off x="9526755" y="2411436"/>
            <a:ext cx="473435" cy="416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631413D-3F61-FC9B-7AE1-6B38A6FE8A1A}"/>
              </a:ext>
            </a:extLst>
          </p:cNvPr>
          <p:cNvSpPr txBox="1"/>
          <p:nvPr/>
        </p:nvSpPr>
        <p:spPr>
          <a:xfrm>
            <a:off x="11288834" y="2960835"/>
            <a:ext cx="2480339" cy="407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"/>
              </a:lnSpc>
            </a:pPr>
            <a:endParaRPr lang="en-US" sz="16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365"/>
              </a:lnSpc>
            </a:pPr>
            <a:endParaRPr lang="en-US" sz="16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A2ED9D3-F87E-BD6D-A6A9-4CFDE55EE835}"/>
              </a:ext>
            </a:extLst>
          </p:cNvPr>
          <p:cNvSpPr txBox="1"/>
          <p:nvPr/>
        </p:nvSpPr>
        <p:spPr>
          <a:xfrm>
            <a:off x="12933843" y="2411436"/>
            <a:ext cx="508785" cy="416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88FA1-153C-D6A4-8629-2855BDAB94A0}"/>
              </a:ext>
            </a:extLst>
          </p:cNvPr>
          <p:cNvSpPr txBox="1"/>
          <p:nvPr/>
        </p:nvSpPr>
        <p:spPr>
          <a:xfrm>
            <a:off x="6162963" y="2950460"/>
            <a:ext cx="22846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Manage Clinical Solutions inbox and calls to triage client and injured worker issues or delegate to appropriate team members as needed.  Answers within 24-48 hours.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73A3A5-AFC0-7305-C918-87F4C16C5B15}"/>
              </a:ext>
            </a:extLst>
          </p:cNvPr>
          <p:cNvSpPr txBox="1"/>
          <p:nvPr/>
        </p:nvSpPr>
        <p:spPr>
          <a:xfrm>
            <a:off x="9526755" y="2922025"/>
            <a:ext cx="25540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Oversee task delegation to/from Clinical Coaches including administrative questions from worker, requests from stakeholders, case utilization reviews to support case management.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3638F-347E-DDCE-24CD-CF0716F80E22}"/>
              </a:ext>
            </a:extLst>
          </p:cNvPr>
          <p:cNvSpPr txBox="1"/>
          <p:nvPr/>
        </p:nvSpPr>
        <p:spPr>
          <a:xfrm>
            <a:off x="13010016" y="3038339"/>
            <a:ext cx="22193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Oversee task delegation to/from </a:t>
            </a:r>
            <a:r>
              <a:rPr lang="en-US" err="1"/>
              <a:t>Reauth</a:t>
            </a:r>
            <a:r>
              <a:rPr lang="en-US"/>
              <a:t> and Visit Management related to note/bill collection, visit attendance, gaps in care, authorization needed.</a:t>
            </a:r>
          </a:p>
        </p:txBody>
      </p:sp>
    </p:spTree>
    <p:extLst>
      <p:ext uri="{BB962C8B-B14F-4D97-AF65-F5344CB8AC3E}">
        <p14:creationId xmlns:p14="http://schemas.microsoft.com/office/powerpoint/2010/main" val="247128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50A5F-DC8A-01B0-84B0-2F512414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55211A-AE50-D607-15AE-EF523F081312}"/>
              </a:ext>
            </a:extLst>
          </p:cNvPr>
          <p:cNvSpPr/>
          <p:nvPr/>
        </p:nvSpPr>
        <p:spPr>
          <a:xfrm flipV="1">
            <a:off x="3711537" y="3997711"/>
            <a:ext cx="486699" cy="8368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912B6F-0F8E-07DD-35E1-89CC99135180}"/>
              </a:ext>
            </a:extLst>
          </p:cNvPr>
          <p:cNvGrpSpPr/>
          <p:nvPr/>
        </p:nvGrpSpPr>
        <p:grpSpPr>
          <a:xfrm>
            <a:off x="956331" y="2031701"/>
            <a:ext cx="2733373" cy="3543517"/>
            <a:chOff x="0" y="0"/>
            <a:chExt cx="812800" cy="10537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204DAE-CC3D-60C6-419F-5B529086A8F1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6532D0D-2158-DFB9-B096-52F3848F7912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65B204D7-2621-1FF9-1DF6-73F4C581AD0E}"/>
              </a:ext>
            </a:extLst>
          </p:cNvPr>
          <p:cNvSpPr/>
          <p:nvPr/>
        </p:nvSpPr>
        <p:spPr>
          <a:xfrm flipV="1">
            <a:off x="6983031" y="3997711"/>
            <a:ext cx="493599" cy="11158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C6B67AB-DF3C-9388-3BBF-DB0B6AC4EC0D}"/>
              </a:ext>
            </a:extLst>
          </p:cNvPr>
          <p:cNvSpPr/>
          <p:nvPr/>
        </p:nvSpPr>
        <p:spPr>
          <a:xfrm flipV="1">
            <a:off x="10246424" y="3997710"/>
            <a:ext cx="489972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C4E3522-A7F9-1ED5-598D-19BA32B95061}"/>
              </a:ext>
            </a:extLst>
          </p:cNvPr>
          <p:cNvSpPr/>
          <p:nvPr/>
        </p:nvSpPr>
        <p:spPr>
          <a:xfrm>
            <a:off x="13511987" y="3997710"/>
            <a:ext cx="461776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AC6978C-8E30-D50C-BD4D-A0F76EEE0E48}"/>
              </a:ext>
            </a:extLst>
          </p:cNvPr>
          <p:cNvGrpSpPr/>
          <p:nvPr/>
        </p:nvGrpSpPr>
        <p:grpSpPr>
          <a:xfrm>
            <a:off x="4201164" y="2031701"/>
            <a:ext cx="2733373" cy="3543517"/>
            <a:chOff x="0" y="0"/>
            <a:chExt cx="812800" cy="105370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998C0EF-D6BA-DB6B-56A7-D4570FD5DD5E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7A917BA-70D0-FF22-64DF-3421A3F73758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ACBC30B-2C81-1AFF-AF01-D27E240CF743}"/>
              </a:ext>
            </a:extLst>
          </p:cNvPr>
          <p:cNvGrpSpPr/>
          <p:nvPr/>
        </p:nvGrpSpPr>
        <p:grpSpPr>
          <a:xfrm>
            <a:off x="7491563" y="2057074"/>
            <a:ext cx="2733373" cy="3543517"/>
            <a:chOff x="0" y="0"/>
            <a:chExt cx="812800" cy="105370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268BA77-2C65-7905-9880-67897BC7D7AF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FB062B5-50B9-DE95-2018-BFAC92D6DF5A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8F01D0F-DA4B-5590-0406-7940397CFFF6}"/>
              </a:ext>
            </a:extLst>
          </p:cNvPr>
          <p:cNvGrpSpPr/>
          <p:nvPr/>
        </p:nvGrpSpPr>
        <p:grpSpPr>
          <a:xfrm>
            <a:off x="10757884" y="2098375"/>
            <a:ext cx="2733373" cy="3543517"/>
            <a:chOff x="0" y="0"/>
            <a:chExt cx="812800" cy="10537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5BAB284-E793-736D-5E45-54FAAEFA5DB2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1D262F6D-E710-965C-C39A-4777685EDD1B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2BFE7C5-A1A8-1A22-C51C-0BA5343F31F9}"/>
              </a:ext>
            </a:extLst>
          </p:cNvPr>
          <p:cNvGrpSpPr/>
          <p:nvPr/>
        </p:nvGrpSpPr>
        <p:grpSpPr>
          <a:xfrm>
            <a:off x="13973763" y="2098376"/>
            <a:ext cx="2733373" cy="3543517"/>
            <a:chOff x="0" y="0"/>
            <a:chExt cx="812800" cy="105370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DF956E0-3728-EA4E-CF06-FBF3CED369D8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C506DA8-5FC6-E017-ECB4-A03DB199370A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5825209-AB66-1626-1D82-5BEE05C3BBC8}"/>
              </a:ext>
            </a:extLst>
          </p:cNvPr>
          <p:cNvSpPr txBox="1"/>
          <p:nvPr/>
        </p:nvSpPr>
        <p:spPr>
          <a:xfrm>
            <a:off x="956331" y="826000"/>
            <a:ext cx="16360405" cy="644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Clinical Solutions Coach Workflow: </a:t>
            </a:r>
            <a:r>
              <a:rPr lang="en-US" sz="3750" b="1">
                <a:solidFill>
                  <a:srgbClr val="FFC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Clinical Oversight</a:t>
            </a:r>
            <a:endParaRPr lang="en-US" sz="3750" b="1">
              <a:solidFill>
                <a:srgbClr val="FFC000"/>
              </a:solidFill>
              <a:latin typeface="Poppins Semi-Bold"/>
              <a:ea typeface="Poppins Semi-Bold"/>
              <a:cs typeface="Poppins Semi-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34440DA-42D3-B532-17B0-6EF6A9E99834}"/>
              </a:ext>
            </a:extLst>
          </p:cNvPr>
          <p:cNvSpPr txBox="1"/>
          <p:nvPr/>
        </p:nvSpPr>
        <p:spPr>
          <a:xfrm>
            <a:off x="1275704" y="3036611"/>
            <a:ext cx="2094625" cy="151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Referral is scheduled and sent to Clinical Solutions Coach to invite to Recovery+ program.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D67072-9DC0-F331-4701-E4848F101EB3}"/>
              </a:ext>
            </a:extLst>
          </p:cNvPr>
          <p:cNvSpPr txBox="1"/>
          <p:nvPr/>
        </p:nvSpPr>
        <p:spPr>
          <a:xfrm>
            <a:off x="1129668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A9C3CC3-19ED-C84E-67C4-33A3F56E7294}"/>
              </a:ext>
            </a:extLst>
          </p:cNvPr>
          <p:cNvSpPr txBox="1"/>
          <p:nvPr/>
        </p:nvSpPr>
        <p:spPr>
          <a:xfrm>
            <a:off x="4367397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F512318-D02A-26DD-2601-C42F907514ED}"/>
              </a:ext>
            </a:extLst>
          </p:cNvPr>
          <p:cNvSpPr txBox="1"/>
          <p:nvPr/>
        </p:nvSpPr>
        <p:spPr>
          <a:xfrm>
            <a:off x="4409973" y="2830507"/>
            <a:ext cx="2315754" cy="208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Injured worker receives text with Coach introduction and content on therapy process and expectations.</a:t>
            </a: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92" i="1">
              <a:solidFill>
                <a:srgbClr val="FFFFFF"/>
              </a:solidFill>
              <a:latin typeface="Arial Italics"/>
              <a:ea typeface="Arial Italics"/>
              <a:cs typeface="Arial Italics"/>
              <a:sym typeface="Arial Italics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74D63D8-F378-B958-1BFA-6B0B99A16080}"/>
              </a:ext>
            </a:extLst>
          </p:cNvPr>
          <p:cNvSpPr txBox="1"/>
          <p:nvPr/>
        </p:nvSpPr>
        <p:spPr>
          <a:xfrm>
            <a:off x="7650330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4677A38-4F48-AACE-4569-DB3A63ECA663}"/>
              </a:ext>
            </a:extLst>
          </p:cNvPr>
          <p:cNvSpPr txBox="1"/>
          <p:nvPr/>
        </p:nvSpPr>
        <p:spPr>
          <a:xfrm>
            <a:off x="10924068" y="2152808"/>
            <a:ext cx="50878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77A9D88-D285-B1DF-3FFF-DFF3C4DE6A92}"/>
              </a:ext>
            </a:extLst>
          </p:cNvPr>
          <p:cNvSpPr txBox="1"/>
          <p:nvPr/>
        </p:nvSpPr>
        <p:spPr>
          <a:xfrm>
            <a:off x="14138492" y="2192361"/>
            <a:ext cx="51061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830F22-56B4-831D-4E5A-2170FDD8BC00}"/>
              </a:ext>
            </a:extLst>
          </p:cNvPr>
          <p:cNvSpPr txBox="1"/>
          <p:nvPr/>
        </p:nvSpPr>
        <p:spPr>
          <a:xfrm>
            <a:off x="7926858" y="2533126"/>
            <a:ext cx="18478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Intermittent patient engagement throughout case  for feedback on  attendance, scheduling, progress, questions, </a:t>
            </a:r>
            <a:r>
              <a:rPr lang="en-US" err="1"/>
              <a:t>etc</a:t>
            </a:r>
            <a:r>
              <a:rPr lang="en-US"/>
              <a:t>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21FEB0-B358-64FB-6ED9-AA38871534AB}"/>
              </a:ext>
            </a:extLst>
          </p:cNvPr>
          <p:cNvSpPr txBox="1"/>
          <p:nvPr/>
        </p:nvSpPr>
        <p:spPr>
          <a:xfrm>
            <a:off x="11033220" y="2663397"/>
            <a:ext cx="1968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Evaluation and ongoing daily/progress note review throughout case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D0E692-9EC3-D615-08C9-152074B08421}"/>
              </a:ext>
            </a:extLst>
          </p:cNvPr>
          <p:cNvSpPr txBox="1"/>
          <p:nvPr/>
        </p:nvSpPr>
        <p:spPr>
          <a:xfrm>
            <a:off x="14306550" y="2897182"/>
            <a:ext cx="20288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Ongoing oversight based on case risk stratification and prioritization, PRO’s, patient/stakeholder requests, worker questions, </a:t>
            </a:r>
            <a:r>
              <a:rPr lang="en-US" err="1"/>
              <a:t>etc</a:t>
            </a:r>
            <a:r>
              <a:rPr lang="en-US"/>
              <a:t>…</a:t>
            </a:r>
          </a:p>
        </p:txBody>
      </p:sp>
      <p:grpSp>
        <p:nvGrpSpPr>
          <p:cNvPr id="40" name="Group 33">
            <a:extLst>
              <a:ext uri="{FF2B5EF4-FFF2-40B4-BE49-F238E27FC236}">
                <a16:creationId xmlns:a16="http://schemas.microsoft.com/office/drawing/2014/main" id="{56A864CD-E90B-B6DE-4367-29D4C056C137}"/>
              </a:ext>
            </a:extLst>
          </p:cNvPr>
          <p:cNvGrpSpPr/>
          <p:nvPr/>
        </p:nvGrpSpPr>
        <p:grpSpPr>
          <a:xfrm>
            <a:off x="8797551" y="6091056"/>
            <a:ext cx="2733373" cy="3703676"/>
            <a:chOff x="0" y="-47625"/>
            <a:chExt cx="812800" cy="1101331"/>
          </a:xfrm>
        </p:grpSpPr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B60C8A45-2555-66BA-B0A2-D4E7655DAA93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35">
              <a:extLst>
                <a:ext uri="{FF2B5EF4-FFF2-40B4-BE49-F238E27FC236}">
                  <a16:creationId xmlns:a16="http://schemas.microsoft.com/office/drawing/2014/main" id="{8800A8DC-9984-0844-1276-BD53C8853151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3" name="Group 3">
            <a:extLst>
              <a:ext uri="{FF2B5EF4-FFF2-40B4-BE49-F238E27FC236}">
                <a16:creationId xmlns:a16="http://schemas.microsoft.com/office/drawing/2014/main" id="{8D416C9A-A4C2-0364-DA9F-808A05DB6672}"/>
              </a:ext>
            </a:extLst>
          </p:cNvPr>
          <p:cNvGrpSpPr/>
          <p:nvPr/>
        </p:nvGrpSpPr>
        <p:grpSpPr>
          <a:xfrm>
            <a:off x="12067206" y="6174466"/>
            <a:ext cx="2733373" cy="3543517"/>
            <a:chOff x="0" y="0"/>
            <a:chExt cx="812800" cy="1053706"/>
          </a:xfrm>
        </p:grpSpPr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16446D99-5201-692E-690A-494350B45D66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5">
              <a:extLst>
                <a:ext uri="{FF2B5EF4-FFF2-40B4-BE49-F238E27FC236}">
                  <a16:creationId xmlns:a16="http://schemas.microsoft.com/office/drawing/2014/main" id="{192707AB-93BB-EAB7-4A38-934F137A3236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461A343-3E31-EF6F-D8C2-148518807151}"/>
              </a:ext>
            </a:extLst>
          </p:cNvPr>
          <p:cNvSpPr txBox="1"/>
          <p:nvPr/>
        </p:nvSpPr>
        <p:spPr>
          <a:xfrm>
            <a:off x="8939880" y="6382548"/>
            <a:ext cx="23532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Provider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Provider alerts re: documentation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Writing work-related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Incorporating work simulation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Documenting worker capabilities vs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Transition to work conditioning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7CA4E2-1315-387F-F394-647E8B3ACB47}"/>
              </a:ext>
            </a:extLst>
          </p:cNvPr>
          <p:cNvSpPr txBox="1"/>
          <p:nvPr/>
        </p:nvSpPr>
        <p:spPr>
          <a:xfrm>
            <a:off x="12225006" y="6419930"/>
            <a:ext cx="22480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Case Remediation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Extended or clinically complex cases that need additional oversight to bring to closure, transition care, or assist with MMI determination </a:t>
            </a:r>
            <a:r>
              <a:rPr lang="en-US" b="1"/>
              <a:t> </a:t>
            </a:r>
          </a:p>
        </p:txBody>
      </p:sp>
      <p:grpSp>
        <p:nvGrpSpPr>
          <p:cNvPr id="49" name="Group 33">
            <a:extLst>
              <a:ext uri="{FF2B5EF4-FFF2-40B4-BE49-F238E27FC236}">
                <a16:creationId xmlns:a16="http://schemas.microsoft.com/office/drawing/2014/main" id="{8A85FD6E-D7B6-E585-1845-0609AAD93D76}"/>
              </a:ext>
            </a:extLst>
          </p:cNvPr>
          <p:cNvGrpSpPr/>
          <p:nvPr/>
        </p:nvGrpSpPr>
        <p:grpSpPr>
          <a:xfrm>
            <a:off x="5475946" y="6138993"/>
            <a:ext cx="2733373" cy="3703676"/>
            <a:chOff x="0" y="-47625"/>
            <a:chExt cx="812800" cy="1101331"/>
          </a:xfrm>
        </p:grpSpPr>
        <p:sp>
          <p:nvSpPr>
            <p:cNvPr id="50" name="Freeform 34">
              <a:extLst>
                <a:ext uri="{FF2B5EF4-FFF2-40B4-BE49-F238E27FC236}">
                  <a16:creationId xmlns:a16="http://schemas.microsoft.com/office/drawing/2014/main" id="{9312DEC1-C890-53D5-D4B7-1F763DBE8117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35">
              <a:extLst>
                <a:ext uri="{FF2B5EF4-FFF2-40B4-BE49-F238E27FC236}">
                  <a16:creationId xmlns:a16="http://schemas.microsoft.com/office/drawing/2014/main" id="{BFB45404-2E34-7F6C-0977-D90162CB6797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D28E429-E6FE-A0CE-6B2E-6AFB572A4F06}"/>
              </a:ext>
            </a:extLst>
          </p:cNvPr>
          <p:cNvSpPr txBox="1"/>
          <p:nvPr/>
        </p:nvSpPr>
        <p:spPr>
          <a:xfrm>
            <a:off x="5656310" y="6547139"/>
            <a:ext cx="22134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Recovery +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Patient Reported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Regular patient check-in text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Curated wellness content (pain management education, mindfulness)</a:t>
            </a:r>
          </a:p>
          <a:p>
            <a:endParaRPr lang="en-US"/>
          </a:p>
        </p:txBody>
      </p:sp>
      <p:sp>
        <p:nvSpPr>
          <p:cNvPr id="25" name="AutoShape 2">
            <a:extLst>
              <a:ext uri="{FF2B5EF4-FFF2-40B4-BE49-F238E27FC236}">
                <a16:creationId xmlns:a16="http://schemas.microsoft.com/office/drawing/2014/main" id="{D2DD2981-06AF-51DD-8639-A7DBEC7C90E4}"/>
              </a:ext>
            </a:extLst>
          </p:cNvPr>
          <p:cNvSpPr/>
          <p:nvPr/>
        </p:nvSpPr>
        <p:spPr>
          <a:xfrm flipH="1">
            <a:off x="10736397" y="5696326"/>
            <a:ext cx="600248" cy="526588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6">
            <a:extLst>
              <a:ext uri="{FF2B5EF4-FFF2-40B4-BE49-F238E27FC236}">
                <a16:creationId xmlns:a16="http://schemas.microsoft.com/office/drawing/2014/main" id="{40861DFB-34C9-9A8A-9F0B-1A633133E97A}"/>
              </a:ext>
            </a:extLst>
          </p:cNvPr>
          <p:cNvSpPr/>
          <p:nvPr/>
        </p:nvSpPr>
        <p:spPr>
          <a:xfrm flipH="1">
            <a:off x="7523517" y="5702606"/>
            <a:ext cx="600247" cy="544492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3BA1755E-3D87-A25C-BD74-3B2825C78C0C}"/>
              </a:ext>
            </a:extLst>
          </p:cNvPr>
          <p:cNvSpPr/>
          <p:nvPr/>
        </p:nvSpPr>
        <p:spPr>
          <a:xfrm flipH="1">
            <a:off x="14138491" y="5702606"/>
            <a:ext cx="510615" cy="436387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8">
            <a:extLst>
              <a:ext uri="{FF2B5EF4-FFF2-40B4-BE49-F238E27FC236}">
                <a16:creationId xmlns:a16="http://schemas.microsoft.com/office/drawing/2014/main" id="{51895E7A-6E79-B7E2-3339-20A26A5EF96F}"/>
              </a:ext>
            </a:extLst>
          </p:cNvPr>
          <p:cNvSpPr/>
          <p:nvPr/>
        </p:nvSpPr>
        <p:spPr>
          <a:xfrm>
            <a:off x="15721781" y="5702606"/>
            <a:ext cx="481780" cy="356327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Group 3">
            <a:extLst>
              <a:ext uri="{FF2B5EF4-FFF2-40B4-BE49-F238E27FC236}">
                <a16:creationId xmlns:a16="http://schemas.microsoft.com/office/drawing/2014/main" id="{92D8B93A-4649-B0AE-1C6B-E5B73C1B0B76}"/>
              </a:ext>
            </a:extLst>
          </p:cNvPr>
          <p:cNvGrpSpPr/>
          <p:nvPr/>
        </p:nvGrpSpPr>
        <p:grpSpPr>
          <a:xfrm>
            <a:off x="15294608" y="4461491"/>
            <a:ext cx="2747107" cy="5221020"/>
            <a:chOff x="0" y="-47625"/>
            <a:chExt cx="816884" cy="1552531"/>
          </a:xfrm>
        </p:grpSpPr>
        <p:sp>
          <p:nvSpPr>
            <p:cNvPr id="57" name="Freeform 4">
              <a:extLst>
                <a:ext uri="{FF2B5EF4-FFF2-40B4-BE49-F238E27FC236}">
                  <a16:creationId xmlns:a16="http://schemas.microsoft.com/office/drawing/2014/main" id="{C868B5A3-3706-846D-7431-D5623B1A750C}"/>
                </a:ext>
              </a:extLst>
            </p:cNvPr>
            <p:cNvSpPr/>
            <p:nvPr/>
          </p:nvSpPr>
          <p:spPr>
            <a:xfrm>
              <a:off x="4084" y="45120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">
              <a:extLst>
                <a:ext uri="{FF2B5EF4-FFF2-40B4-BE49-F238E27FC236}">
                  <a16:creationId xmlns:a16="http://schemas.microsoft.com/office/drawing/2014/main" id="{B6911B1D-CFF8-0ECC-6F46-25FA326EBC1C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EEB9B50-BC58-E8DB-B9F5-DC7A4D41A781}"/>
              </a:ext>
            </a:extLst>
          </p:cNvPr>
          <p:cNvSpPr txBox="1"/>
          <p:nvPr/>
        </p:nvSpPr>
        <p:spPr>
          <a:xfrm>
            <a:off x="15461141" y="6388817"/>
            <a:ext cx="24272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Stakeholder Alerts (sample)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Worker meeting job demands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Gap in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Transition of care or discharge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Nearing Outlier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Case plateau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1" name="AutoShape 2">
            <a:extLst>
              <a:ext uri="{FF2B5EF4-FFF2-40B4-BE49-F238E27FC236}">
                <a16:creationId xmlns:a16="http://schemas.microsoft.com/office/drawing/2014/main" id="{BDCCF21B-69F5-D064-3388-A5648D18D00D}"/>
              </a:ext>
            </a:extLst>
          </p:cNvPr>
          <p:cNvSpPr/>
          <p:nvPr/>
        </p:nvSpPr>
        <p:spPr>
          <a:xfrm>
            <a:off x="9362339" y="5689070"/>
            <a:ext cx="564775" cy="558027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AutoShape 2">
            <a:extLst>
              <a:ext uri="{FF2B5EF4-FFF2-40B4-BE49-F238E27FC236}">
                <a16:creationId xmlns:a16="http://schemas.microsoft.com/office/drawing/2014/main" id="{24AD39C2-B442-3B61-930B-36002325060D}"/>
              </a:ext>
            </a:extLst>
          </p:cNvPr>
          <p:cNvSpPr/>
          <p:nvPr/>
        </p:nvSpPr>
        <p:spPr>
          <a:xfrm>
            <a:off x="12664580" y="5677364"/>
            <a:ext cx="475416" cy="46162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2B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6DDBB-FDCB-7D55-D5BE-3F80BE21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7AC0132-4DFA-F8E9-AF31-4ADF89C2D12B}"/>
              </a:ext>
            </a:extLst>
          </p:cNvPr>
          <p:cNvSpPr/>
          <p:nvPr/>
        </p:nvSpPr>
        <p:spPr>
          <a:xfrm flipV="1">
            <a:off x="3622577" y="400050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C8C9EA-3853-18AE-250D-87C998F232C0}"/>
              </a:ext>
            </a:extLst>
          </p:cNvPr>
          <p:cNvGrpSpPr/>
          <p:nvPr/>
        </p:nvGrpSpPr>
        <p:grpSpPr>
          <a:xfrm>
            <a:off x="956331" y="2031701"/>
            <a:ext cx="2733373" cy="3543517"/>
            <a:chOff x="0" y="0"/>
            <a:chExt cx="812800" cy="10537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3676D94-AC33-1611-17EB-6A26E2EF1757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510137-BD9C-D72D-C94B-C2C79050B01A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341B1639-07A3-3C07-7BD6-127B01C0134E}"/>
              </a:ext>
            </a:extLst>
          </p:cNvPr>
          <p:cNvSpPr/>
          <p:nvPr/>
        </p:nvSpPr>
        <p:spPr>
          <a:xfrm flipV="1">
            <a:off x="6983031" y="400329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CC17F84-92F4-5385-7FD0-4B8C2876AF13}"/>
              </a:ext>
            </a:extLst>
          </p:cNvPr>
          <p:cNvSpPr/>
          <p:nvPr/>
        </p:nvSpPr>
        <p:spPr>
          <a:xfrm flipV="1">
            <a:off x="13842851" y="4000500"/>
            <a:ext cx="721340" cy="5579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8D21CAB8-1F3C-50CA-5B17-506C8541B646}"/>
              </a:ext>
            </a:extLst>
          </p:cNvPr>
          <p:cNvGrpSpPr/>
          <p:nvPr/>
        </p:nvGrpSpPr>
        <p:grpSpPr>
          <a:xfrm>
            <a:off x="4363089" y="2031701"/>
            <a:ext cx="2733373" cy="3543517"/>
            <a:chOff x="0" y="0"/>
            <a:chExt cx="812800" cy="105370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AD3678F-7E49-5D3D-03D8-2254D7F69B5C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D8A2E03-00EA-9CA6-A88A-D79D67E7545C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0B4FE32-E95C-2A20-8FE7-69103817756C}"/>
              </a:ext>
            </a:extLst>
          </p:cNvPr>
          <p:cNvGrpSpPr/>
          <p:nvPr/>
        </p:nvGrpSpPr>
        <p:grpSpPr>
          <a:xfrm>
            <a:off x="7769847" y="2031701"/>
            <a:ext cx="2733373" cy="3543517"/>
            <a:chOff x="0" y="0"/>
            <a:chExt cx="812800" cy="105370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ADE25A8-CA24-8C60-DED8-5D17344DC31B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DF47213-1F26-2944-511C-C15EA753F5FB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12047AE-30CF-809A-1FF2-625F65F7047B}"/>
              </a:ext>
            </a:extLst>
          </p:cNvPr>
          <p:cNvGrpSpPr/>
          <p:nvPr/>
        </p:nvGrpSpPr>
        <p:grpSpPr>
          <a:xfrm>
            <a:off x="11176605" y="2031701"/>
            <a:ext cx="2733373" cy="3543517"/>
            <a:chOff x="0" y="0"/>
            <a:chExt cx="812800" cy="10537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02D8CE0-E2EE-E57C-7BB5-5781CF1179A2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14B11DCC-F626-D5E0-0469-20FC816E6A31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51E8F03-DFCC-3F59-7CEB-1C346F4B3975}"/>
              </a:ext>
            </a:extLst>
          </p:cNvPr>
          <p:cNvGrpSpPr/>
          <p:nvPr/>
        </p:nvGrpSpPr>
        <p:grpSpPr>
          <a:xfrm>
            <a:off x="14583363" y="2031701"/>
            <a:ext cx="2733373" cy="3543517"/>
            <a:chOff x="0" y="0"/>
            <a:chExt cx="812800" cy="105370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3F1A344-8AE4-3E91-8CB5-6F108527B8E0}"/>
                </a:ext>
              </a:extLst>
            </p:cNvPr>
            <p:cNvSpPr/>
            <p:nvPr/>
          </p:nvSpPr>
          <p:spPr>
            <a:xfrm>
              <a:off x="0" y="0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83BD4A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6E5B1E2-8E37-7E95-8347-35E09BFA719B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E94A7B9-3DCD-D747-D01E-F63294A59835}"/>
              </a:ext>
            </a:extLst>
          </p:cNvPr>
          <p:cNvSpPr txBox="1"/>
          <p:nvPr/>
        </p:nvSpPr>
        <p:spPr>
          <a:xfrm>
            <a:off x="956331" y="826000"/>
            <a:ext cx="16360405" cy="644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Care Coordinator Workflow: </a:t>
            </a:r>
            <a:r>
              <a:rPr lang="en-US" sz="3750" b="1">
                <a:solidFill>
                  <a:srgbClr val="FFC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Reauthorization Process</a:t>
            </a:r>
            <a:endParaRPr lang="en-US" sz="3750" b="1">
              <a:solidFill>
                <a:srgbClr val="FFC000"/>
              </a:solidFill>
              <a:latin typeface="Poppins Semi-Bold"/>
              <a:ea typeface="Poppins Semi-Bold"/>
              <a:cs typeface="Poppins Semi-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B660DCC-823D-0071-5E6F-05657B0706B3}"/>
              </a:ext>
            </a:extLst>
          </p:cNvPr>
          <p:cNvSpPr txBox="1"/>
          <p:nvPr/>
        </p:nvSpPr>
        <p:spPr>
          <a:xfrm>
            <a:off x="1287025" y="2687093"/>
            <a:ext cx="2094625" cy="24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visits prior to end of authorization, clinic sent a notice to complete progress note for additional recommendations or plan for discharge. </a:t>
            </a:r>
          </a:p>
          <a:p>
            <a:pPr algn="ctr">
              <a:lnSpc>
                <a:spcPts val="2370"/>
              </a:lnSpc>
            </a:pPr>
            <a:endParaRPr lang="en-US"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D72F8B6-F09F-D7FA-EDCE-D16E2FC74308}"/>
              </a:ext>
            </a:extLst>
          </p:cNvPr>
          <p:cNvSpPr txBox="1"/>
          <p:nvPr/>
        </p:nvSpPr>
        <p:spPr>
          <a:xfrm>
            <a:off x="1129668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806D6FB-72D5-899D-A326-FC44E7027BB8}"/>
              </a:ext>
            </a:extLst>
          </p:cNvPr>
          <p:cNvSpPr txBox="1"/>
          <p:nvPr/>
        </p:nvSpPr>
        <p:spPr>
          <a:xfrm>
            <a:off x="4529322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514C342-1FA7-5712-58E4-E66A4AEC202F}"/>
              </a:ext>
            </a:extLst>
          </p:cNvPr>
          <p:cNvSpPr txBox="1"/>
          <p:nvPr/>
        </p:nvSpPr>
        <p:spPr>
          <a:xfrm>
            <a:off x="4571898" y="2830507"/>
            <a:ext cx="2315754" cy="270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16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of authorization triggers Care Coordinators to reach out to clinic or stakeholders for any additional scripts/signed plans of care.</a:t>
            </a:r>
          </a:p>
          <a:p>
            <a:pPr algn="ctr">
              <a:lnSpc>
                <a:spcPts val="2370"/>
              </a:lnSpc>
            </a:pPr>
            <a:endParaRPr lang="en-US" sz="16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950"/>
              </a:lnSpc>
            </a:pPr>
            <a:endParaRPr lang="en-US" sz="1392" i="1">
              <a:solidFill>
                <a:srgbClr val="FFFFFF"/>
              </a:solidFill>
              <a:latin typeface="Arial Italics"/>
              <a:ea typeface="Arial Italics"/>
              <a:cs typeface="Arial Italics"/>
              <a:sym typeface="Arial Italics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81A0340-2005-530F-B509-25FC6A2D375A}"/>
              </a:ext>
            </a:extLst>
          </p:cNvPr>
          <p:cNvSpPr txBox="1"/>
          <p:nvPr/>
        </p:nvSpPr>
        <p:spPr>
          <a:xfrm>
            <a:off x="7936080" y="2125686"/>
            <a:ext cx="47343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17A2A99-3272-5F21-A014-8AADF124395F}"/>
              </a:ext>
            </a:extLst>
          </p:cNvPr>
          <p:cNvSpPr txBox="1"/>
          <p:nvPr/>
        </p:nvSpPr>
        <p:spPr>
          <a:xfrm>
            <a:off x="11343168" y="2125686"/>
            <a:ext cx="508785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FE41F2E-E4C7-D233-22D2-06C81F15EBA3}"/>
              </a:ext>
            </a:extLst>
          </p:cNvPr>
          <p:cNvSpPr txBox="1"/>
          <p:nvPr/>
        </p:nvSpPr>
        <p:spPr>
          <a:xfrm>
            <a:off x="14916911" y="2830507"/>
            <a:ext cx="2109787" cy="25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169E334-13BC-D089-FD5C-1477BAD416E0}"/>
              </a:ext>
            </a:extLst>
          </p:cNvPr>
          <p:cNvSpPr txBox="1"/>
          <p:nvPr/>
        </p:nvSpPr>
        <p:spPr>
          <a:xfrm>
            <a:off x="14748092" y="2125686"/>
            <a:ext cx="510618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348" b="1">
                <a:solidFill>
                  <a:srgbClr val="231F2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DCAD39-B53C-01A2-2532-0C9160D34369}"/>
              </a:ext>
            </a:extLst>
          </p:cNvPr>
          <p:cNvSpPr txBox="1"/>
          <p:nvPr/>
        </p:nvSpPr>
        <p:spPr>
          <a:xfrm>
            <a:off x="8058150" y="2762250"/>
            <a:ext cx="2169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Receive updated orders from stakeholders.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C6BFA7-CCAC-7BE5-0A68-1B187C4D32A8}"/>
              </a:ext>
            </a:extLst>
          </p:cNvPr>
          <p:cNvSpPr txBox="1"/>
          <p:nvPr/>
        </p:nvSpPr>
        <p:spPr>
          <a:xfrm>
            <a:off x="11410950" y="2830507"/>
            <a:ext cx="23051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Receive singed plan of care from therapy clinic or additional script from MD and send to stakeholders for authorization of visits.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047756-CCCF-1EC8-0767-DFF912F34295}"/>
              </a:ext>
            </a:extLst>
          </p:cNvPr>
          <p:cNvSpPr txBox="1"/>
          <p:nvPr/>
        </p:nvSpPr>
        <p:spPr>
          <a:xfrm>
            <a:off x="10639425" y="3286125"/>
            <a:ext cx="537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2398E6-70CD-5001-995A-B877D2CD242C}"/>
              </a:ext>
            </a:extLst>
          </p:cNvPr>
          <p:cNvSpPr txBox="1"/>
          <p:nvPr/>
        </p:nvSpPr>
        <p:spPr>
          <a:xfrm>
            <a:off x="15039975" y="3000375"/>
            <a:ext cx="1781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Send new authorization to clinic for continued care within 24-48 hours of receipt from stakeholders.</a:t>
            </a:r>
          </a:p>
        </p:txBody>
      </p:sp>
      <p:grpSp>
        <p:nvGrpSpPr>
          <p:cNvPr id="36" name="Group 33">
            <a:extLst>
              <a:ext uri="{FF2B5EF4-FFF2-40B4-BE49-F238E27FC236}">
                <a16:creationId xmlns:a16="http://schemas.microsoft.com/office/drawing/2014/main" id="{0BEFA56E-D7EB-0535-37A0-AF0E8B57C69D}"/>
              </a:ext>
            </a:extLst>
          </p:cNvPr>
          <p:cNvGrpSpPr/>
          <p:nvPr/>
        </p:nvGrpSpPr>
        <p:grpSpPr>
          <a:xfrm>
            <a:off x="7343701" y="6140617"/>
            <a:ext cx="3166987" cy="3703676"/>
            <a:chOff x="0" y="-47625"/>
            <a:chExt cx="941740" cy="1101331"/>
          </a:xfrm>
        </p:grpSpPr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79FA8B23-2938-77F1-8104-6B6DEE2F165A}"/>
                </a:ext>
              </a:extLst>
            </p:cNvPr>
            <p:cNvSpPr/>
            <p:nvPr/>
          </p:nvSpPr>
          <p:spPr>
            <a:xfrm>
              <a:off x="128940" y="-23813"/>
              <a:ext cx="812800" cy="1053706"/>
            </a:xfrm>
            <a:custGeom>
              <a:avLst/>
              <a:gdLst/>
              <a:ahLst/>
              <a:cxnLst/>
              <a:rect l="l" t="t" r="r" b="b"/>
              <a:pathLst>
                <a:path w="812800" h="1053706">
                  <a:moveTo>
                    <a:pt x="56647" y="0"/>
                  </a:moveTo>
                  <a:lnTo>
                    <a:pt x="756153" y="0"/>
                  </a:lnTo>
                  <a:cubicBezTo>
                    <a:pt x="787438" y="0"/>
                    <a:pt x="812800" y="25362"/>
                    <a:pt x="812800" y="56647"/>
                  </a:cubicBezTo>
                  <a:lnTo>
                    <a:pt x="812800" y="997059"/>
                  </a:lnTo>
                  <a:cubicBezTo>
                    <a:pt x="812800" y="1028344"/>
                    <a:pt x="787438" y="1053706"/>
                    <a:pt x="756153" y="1053706"/>
                  </a:cubicBezTo>
                  <a:lnTo>
                    <a:pt x="56647" y="1053706"/>
                  </a:lnTo>
                  <a:cubicBezTo>
                    <a:pt x="41624" y="1053706"/>
                    <a:pt x="27215" y="1047738"/>
                    <a:pt x="16592" y="1037114"/>
                  </a:cubicBezTo>
                  <a:cubicBezTo>
                    <a:pt x="5968" y="1026491"/>
                    <a:pt x="0" y="1012082"/>
                    <a:pt x="0" y="997059"/>
                  </a:cubicBezTo>
                  <a:lnTo>
                    <a:pt x="0" y="56647"/>
                  </a:lnTo>
                  <a:cubicBezTo>
                    <a:pt x="0" y="25362"/>
                    <a:pt x="25362" y="0"/>
                    <a:pt x="56647" y="0"/>
                  </a:cubicBezTo>
                  <a:close/>
                </a:path>
              </a:pathLst>
            </a:custGeom>
            <a:solidFill>
              <a:srgbClr val="FFCB0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5">
              <a:extLst>
                <a:ext uri="{FF2B5EF4-FFF2-40B4-BE49-F238E27FC236}">
                  <a16:creationId xmlns:a16="http://schemas.microsoft.com/office/drawing/2014/main" id="{3FD6C91A-CBA9-6CF6-F3FE-DB1A027D76C6}"/>
                </a:ext>
              </a:extLst>
            </p:cNvPr>
            <p:cNvSpPr txBox="1"/>
            <p:nvPr/>
          </p:nvSpPr>
          <p:spPr>
            <a:xfrm>
              <a:off x="0" y="-47625"/>
              <a:ext cx="812800" cy="11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9" name="AutoShape 32">
            <a:extLst>
              <a:ext uri="{FF2B5EF4-FFF2-40B4-BE49-F238E27FC236}">
                <a16:creationId xmlns:a16="http://schemas.microsoft.com/office/drawing/2014/main" id="{F4ED0933-9A8B-33B5-E9C6-0A68299F1AFD}"/>
              </a:ext>
            </a:extLst>
          </p:cNvPr>
          <p:cNvSpPr/>
          <p:nvPr/>
        </p:nvSpPr>
        <p:spPr>
          <a:xfrm flipH="1">
            <a:off x="9515475" y="5575218"/>
            <a:ext cx="2733374" cy="565396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32">
            <a:extLst>
              <a:ext uri="{FF2B5EF4-FFF2-40B4-BE49-F238E27FC236}">
                <a16:creationId xmlns:a16="http://schemas.microsoft.com/office/drawing/2014/main" id="{A940D237-0CAA-CE12-8860-DFF170086A4B}"/>
              </a:ext>
            </a:extLst>
          </p:cNvPr>
          <p:cNvSpPr/>
          <p:nvPr/>
        </p:nvSpPr>
        <p:spPr>
          <a:xfrm>
            <a:off x="6029623" y="5575218"/>
            <a:ext cx="2657177" cy="559818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831429-51DE-1824-BF6A-6FB7AAF9B7DC}"/>
              </a:ext>
            </a:extLst>
          </p:cNvPr>
          <p:cNvSpPr txBox="1"/>
          <p:nvPr/>
        </p:nvSpPr>
        <p:spPr>
          <a:xfrm>
            <a:off x="8210550" y="6858000"/>
            <a:ext cx="20167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Consult with Clinical Solutions Coach to determine medical necessity of additional visit request.</a:t>
            </a:r>
          </a:p>
        </p:txBody>
      </p:sp>
    </p:spTree>
    <p:extLst>
      <p:ext uri="{BB962C8B-B14F-4D97-AF65-F5344CB8AC3E}">
        <p14:creationId xmlns:p14="http://schemas.microsoft.com/office/powerpoint/2010/main" val="175393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7ACD2184C0BE4BB8DB39E576FFD70B" ma:contentTypeVersion="11" ma:contentTypeDescription="Create a new document." ma:contentTypeScope="" ma:versionID="47a302f18d6ae0cbc678da6b83d1915e">
  <xsd:schema xmlns:xsd="http://www.w3.org/2001/XMLSchema" xmlns:xs="http://www.w3.org/2001/XMLSchema" xmlns:p="http://schemas.microsoft.com/office/2006/metadata/properties" xmlns:ns2="c338fc14-d3d6-42df-b033-895b2dba9eff" xmlns:ns3="44895c97-73a4-4df7-8c66-7e1820bf099d" targetNamespace="http://schemas.microsoft.com/office/2006/metadata/properties" ma:root="true" ma:fieldsID="bfc8a28848fe7aafb997cbf13e4cb3bb" ns2:_="" ns3:_="">
    <xsd:import namespace="c338fc14-d3d6-42df-b033-895b2dba9eff"/>
    <xsd:import namespace="44895c97-73a4-4df7-8c66-7e1820bf09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38fc14-d3d6-42df-b033-895b2dba9e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7d68957-58ef-48be-bf1c-9dcaefdcb5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895c97-73a4-4df7-8c66-7e1820bf09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79e235e-afd3-4110-aca3-405cba93bdb0}" ma:internalName="TaxCatchAll" ma:showField="CatchAllData" ma:web="44895c97-73a4-4df7-8c66-7e1820bf09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895c97-73a4-4df7-8c66-7e1820bf099d"/>
    <lcf76f155ced4ddcb4097134ff3c332f xmlns="c338fc14-d3d6-42df-b033-895b2dba9ef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DCBF87-1D70-4B5A-9531-0CD825BFF90D}">
  <ds:schemaRefs>
    <ds:schemaRef ds:uri="44895c97-73a4-4df7-8c66-7e1820bf099d"/>
    <ds:schemaRef ds:uri="c338fc14-d3d6-42df-b033-895b2dba9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B64573-2A15-48DD-B1A4-C5E8F7852F12}">
  <ds:schemaRefs>
    <ds:schemaRef ds:uri="44895c97-73a4-4df7-8c66-7e1820bf099d"/>
    <ds:schemaRef ds:uri="c338fc14-d3d6-42df-b033-895b2dba9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56D1B4-A781-43EF-B5AE-64B08EC114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Office PowerPoint</Application>
  <PresentationFormat>Custom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 Bold</vt:lpstr>
      <vt:lpstr>Arial Italics</vt:lpstr>
      <vt:lpstr>Poppins</vt:lpstr>
      <vt:lpstr>Poppins Bold</vt:lpstr>
      <vt:lpstr>Poppins Italics</vt:lpstr>
      <vt:lpstr>Poppins Semi-Bold</vt:lpstr>
      <vt:lpstr>Poppins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of a Referral Workflow</dc:title>
  <dc:creator>Erin Bothwell</dc:creator>
  <cp:lastModifiedBy>Jill Schnittker</cp:lastModifiedBy>
  <cp:revision>1</cp:revision>
  <dcterms:created xsi:type="dcterms:W3CDTF">2006-08-16T00:00:00Z</dcterms:created>
  <dcterms:modified xsi:type="dcterms:W3CDTF">2025-12-09T17:33:34Z</dcterms:modified>
  <dc:identifier>DAGCIbUD-KQ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0x0101001D7ACD2184C0BE4BB8DB39E576FFD70B</vt:lpwstr>
  </property>
</Properties>
</file>